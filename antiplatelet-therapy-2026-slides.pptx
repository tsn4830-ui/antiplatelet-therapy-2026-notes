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313118b8ad4176" /><Relationship Type="http://schemas.openxmlformats.org/officeDocument/2006/relationships/extended-properties" Target="/docProps/app.xml" Id="R4296dca0d3f94fb9" /><Relationship Type="http://schemas.openxmlformats.org/officeDocument/2006/relationships/officeDocument" Target="/ppt/presentation.xml" Id="R585eea712dcf46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1d138394b74ab0"/>
  </p:sldMasterIdLst>
  <p:notesMasterIdLst>
    <p:notesMasterId xmlns:r="http://schemas.openxmlformats.org/officeDocument/2006/relationships" r:id="R10f9e0fe4c1246da"/>
  </p:notesMasterIdLst>
  <p:sldIdLst>
    <p:sldId xmlns:r="http://schemas.openxmlformats.org/officeDocument/2006/relationships" id="256" r:id="R2bbc337d9c994945"/>
    <p:sldId xmlns:r="http://schemas.openxmlformats.org/officeDocument/2006/relationships" id="257" r:id="R6b2b415f44104d71"/>
    <p:sldId xmlns:r="http://schemas.openxmlformats.org/officeDocument/2006/relationships" id="258" r:id="R2050d58a4bc3433a"/>
    <p:sldId xmlns:r="http://schemas.openxmlformats.org/officeDocument/2006/relationships" id="259" r:id="R498174dd5d1c4ea6"/>
    <p:sldId xmlns:r="http://schemas.openxmlformats.org/officeDocument/2006/relationships" id="260" r:id="R62818085f01049a7"/>
    <p:sldId xmlns:r="http://schemas.openxmlformats.org/officeDocument/2006/relationships" id="261" r:id="R8322f297129d48ae"/>
    <p:sldId xmlns:r="http://schemas.openxmlformats.org/officeDocument/2006/relationships" id="262" r:id="R348b809beae34862"/>
    <p:sldId xmlns:r="http://schemas.openxmlformats.org/officeDocument/2006/relationships" id="263" r:id="Rfb1527b84d504f5b"/>
    <p:sldId xmlns:r="http://schemas.openxmlformats.org/officeDocument/2006/relationships" id="264" r:id="R0506497931134f4a"/>
    <p:sldId xmlns:r="http://schemas.openxmlformats.org/officeDocument/2006/relationships" id="265" r:id="R86dfe211682548da"/>
    <p:sldId xmlns:r="http://schemas.openxmlformats.org/officeDocument/2006/relationships" id="266" r:id="R6ae32e4bb0b04219"/>
    <p:sldId xmlns:r="http://schemas.openxmlformats.org/officeDocument/2006/relationships" id="267" r:id="R6c248a844c594cb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567aaad85fe4626" /><Relationship Type="http://schemas.openxmlformats.org/officeDocument/2006/relationships/slideMaster" Target="/ppt/slideMasters/slideMaster1.xml" Id="Rf11d138394b74ab0" /><Relationship Type="http://schemas.openxmlformats.org/officeDocument/2006/relationships/notesMaster" Target="/ppt/notesMasters/notesMaster1.xml" Id="R10f9e0fe4c1246da" /><Relationship Type="http://schemas.openxmlformats.org/officeDocument/2006/relationships/presProps" Target="/ppt/presProps.xml" Id="R58b88dfd4434470d" /><Relationship Type="http://schemas.openxmlformats.org/officeDocument/2006/relationships/tableStyles" Target="/ppt/tableStyles.xml" Id="Raaac8e12716b417e" /><Relationship Type="http://schemas.openxmlformats.org/officeDocument/2006/relationships/slide" Target="/ppt/slides/slide1.xml" Id="R2bbc337d9c994945" /><Relationship Type="http://schemas.openxmlformats.org/officeDocument/2006/relationships/slide" Target="/ppt/slides/slide2.xml" Id="R6b2b415f44104d71" /><Relationship Type="http://schemas.openxmlformats.org/officeDocument/2006/relationships/slide" Target="/ppt/slides/slide3.xml" Id="R2050d58a4bc3433a" /><Relationship Type="http://schemas.openxmlformats.org/officeDocument/2006/relationships/slide" Target="/ppt/slides/slide4.xml" Id="R498174dd5d1c4ea6" /><Relationship Type="http://schemas.openxmlformats.org/officeDocument/2006/relationships/slide" Target="/ppt/slides/slide5.xml" Id="R62818085f01049a7" /><Relationship Type="http://schemas.openxmlformats.org/officeDocument/2006/relationships/slide" Target="/ppt/slides/slide6.xml" Id="R8322f297129d48ae" /><Relationship Type="http://schemas.openxmlformats.org/officeDocument/2006/relationships/slide" Target="/ppt/slides/slide7.xml" Id="R348b809beae34862" /><Relationship Type="http://schemas.openxmlformats.org/officeDocument/2006/relationships/slide" Target="/ppt/slides/slide8.xml" Id="Rfb1527b84d504f5b" /><Relationship Type="http://schemas.openxmlformats.org/officeDocument/2006/relationships/slide" Target="/ppt/slides/slide9.xml" Id="R0506497931134f4a" /><Relationship Type="http://schemas.openxmlformats.org/officeDocument/2006/relationships/slide" Target="/ppt/slides/slide10.xml" Id="R86dfe211682548da" /><Relationship Type="http://schemas.openxmlformats.org/officeDocument/2006/relationships/slide" Target="/ppt/slides/slide11.xml" Id="R6ae32e4bb0b04219" /><Relationship Type="http://schemas.openxmlformats.org/officeDocument/2006/relationships/slide" Target="/ppt/slides/slide12.xml" Id="R6c248a844c594c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d789be4f15f4c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d42d0d60e04801" /><Relationship Type="http://schemas.openxmlformats.org/officeDocument/2006/relationships/notesMaster" Target="/ppt/notesMasters/notesMaster1.xml" Id="R4bd463ec69db4d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2d8ed47f594df3" /><Relationship Type="http://schemas.openxmlformats.org/officeDocument/2006/relationships/notesMaster" Target="/ppt/notesMasters/notesMaster1.xml" Id="R49afd7d2f75f4b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4cb1d052784ef6" /><Relationship Type="http://schemas.openxmlformats.org/officeDocument/2006/relationships/notesMaster" Target="/ppt/notesMasters/notesMaster1.xml" Id="R51cd070fd1ec45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577d1d86b54208" /><Relationship Type="http://schemas.openxmlformats.org/officeDocument/2006/relationships/notesMaster" Target="/ppt/notesMasters/notesMaster1.xml" Id="R468521a6dab248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be3f84073e432e" /><Relationship Type="http://schemas.openxmlformats.org/officeDocument/2006/relationships/notesMaster" Target="/ppt/notesMasters/notesMaster1.xml" Id="Rf44ddd5367544ac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d5d7899d0c34d7f" /><Relationship Type="http://schemas.openxmlformats.org/officeDocument/2006/relationships/notesMaster" Target="/ppt/notesMasters/notesMaster1.xml" Id="R7627d4a5fbd24ad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a6754cbb1c4ecd" /><Relationship Type="http://schemas.openxmlformats.org/officeDocument/2006/relationships/notesMaster" Target="/ppt/notesMasters/notesMaster1.xml" Id="R67330c01ff3447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f8ee21e4d84137" /><Relationship Type="http://schemas.openxmlformats.org/officeDocument/2006/relationships/notesMaster" Target="/ppt/notesMasters/notesMaster1.xml" Id="R22a45ec0ddcd41d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ef025958734149" /><Relationship Type="http://schemas.openxmlformats.org/officeDocument/2006/relationships/notesMaster" Target="/ppt/notesMasters/notesMaster1.xml" Id="Reba5638774ef4c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fb2a6facdc84817" /><Relationship Type="http://schemas.openxmlformats.org/officeDocument/2006/relationships/notesMaster" Target="/ppt/notesMasters/notesMaster1.xml" Id="R110baa5f45034fd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812476307e4016" /><Relationship Type="http://schemas.openxmlformats.org/officeDocument/2006/relationships/notesMaster" Target="/ppt/notesMasters/notesMaster1.xml" Id="R274d01d39530466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80d823e563b4dc5" /><Relationship Type="http://schemas.openxmlformats.org/officeDocument/2006/relationships/notesMaster" Target="/ppt/notesMasters/notesMaster1.xml" Id="Ra699becad146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05d3ed95e647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c5a9fa9765486d" /><Relationship Type="http://schemas.openxmlformats.org/officeDocument/2006/relationships/slideLayout" Target="/ppt/slideLayouts/slideLayout1.xml" Id="Rf328a3894eeb4e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28a3894eeb4e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8a5e1926df45c7" /><Relationship Type="http://schemas.openxmlformats.org/officeDocument/2006/relationships/notesSlide" Target="/ppt/notesSlides/notesSlide1.xml" Id="R83da7bed9fa944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ac688064af4768" /><Relationship Type="http://schemas.openxmlformats.org/officeDocument/2006/relationships/notesSlide" Target="/ppt/notesSlides/notesSlide2.xml" Id="R59f0c2c1f83247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b1b14cf41a4efe" /><Relationship Type="http://schemas.openxmlformats.org/officeDocument/2006/relationships/image" Target="/ppt/media/image.png" Id="R294fec90a7c54608" /><Relationship Type="http://schemas.openxmlformats.org/officeDocument/2006/relationships/notesSlide" Target="/ppt/notesSlides/notesSlide3.xml" Id="R89fb12bbc32346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e50864a6664f0b" /><Relationship Type="http://schemas.openxmlformats.org/officeDocument/2006/relationships/image" Target="/ppt/media/image2.png" Id="R60f827dc805c4cf4" /><Relationship Type="http://schemas.openxmlformats.org/officeDocument/2006/relationships/notesSlide" Target="/ppt/notesSlides/notesSlide4.xml" Id="Rb1eb9415f61c47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545144d46c40eb" /><Relationship Type="http://schemas.openxmlformats.org/officeDocument/2006/relationships/notesSlide" Target="/ppt/notesSlides/notesSlide5.xml" Id="Rf067dc373f5543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41870d99cb453f" /><Relationship Type="http://schemas.openxmlformats.org/officeDocument/2006/relationships/notesSlide" Target="/ppt/notesSlides/notesSlide6.xml" Id="R1d424f2089044f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6772acee24cf7" /><Relationship Type="http://schemas.openxmlformats.org/officeDocument/2006/relationships/notesSlide" Target="/ppt/notesSlides/notesSlide7.xml" Id="Rf937946ab1e241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32c00cb26432d" /><Relationship Type="http://schemas.openxmlformats.org/officeDocument/2006/relationships/notesSlide" Target="/ppt/notesSlides/notesSlide8.xml" Id="R8a7f5616e73f40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7f27601e84f23" /><Relationship Type="http://schemas.openxmlformats.org/officeDocument/2006/relationships/notesSlide" Target="/ppt/notesSlides/notesSlide9.xml" Id="R3f62d48bf81d43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9075972d874737" /><Relationship Type="http://schemas.openxmlformats.org/officeDocument/2006/relationships/notesSlide" Target="/ppt/notesSlides/notesSlide10.xml" Id="R9be89ecc9aa64a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7f475754a458a" /><Relationship Type="http://schemas.openxmlformats.org/officeDocument/2006/relationships/notesSlide" Target="/ppt/notesSlides/notesSlide11.xml" Id="R8b7641b542e2443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903a79b16a4180" /><Relationship Type="http://schemas.openxmlformats.org/officeDocument/2006/relationships/notesSlide" Target="/ppt/notesSlides/notesSlide12.xml" Id="R4f2673b55d7244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569CCF-5913-4D6F-819F-28FC3921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590D63-471A-4AF5-9F85-D4772F06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F66AB6-280C-400C-B1BB-D01158AA4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900"/>
                </a:solidFill>
              </a:defRPr>
            </a:pPr>
            <a:r>
              <a:rPr sz="975" b="1">
                <a:solidFill>
                  <a:srgbClr val="FFB900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7AB31-A505-4401-AEC0-4CE772E7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857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抗血小板治療</a:t>
            </a:r>
          </a:p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在 ASCVD 的</a:t>
            </a:r>
          </a:p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臨床決策整理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C15BC-9995-42B6-BD46-6A943A0E6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57625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BEAFE"/>
                </a:solidFill>
              </a:defRPr>
            </a:pPr>
            <a:r>
              <a:rPr sz="1425" b="1">
                <a:solidFill>
                  <a:srgbClr val="DBEAFE"/>
                </a:solidFill>
              </a:rPr>
              <a:t>不是越多越久，而是動態風險平衡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6B50ED-BB26-4B1D-8282-D6D175732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0550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BEAFE"/>
                </a:solidFill>
              </a:defRPr>
            </a:pPr>
            <a:r>
              <a:rPr sz="975" b="1">
                <a:solidFill>
                  <a:srgbClr val="DBEAFE"/>
                </a:solidFill>
              </a:rPr>
              <a:t>Reading Notes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2E5667-DD0D-4807-9E0C-A15A9266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876300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14158"/>
                </a:solidFill>
              </a:defRPr>
            </a:pPr>
            <a:r>
              <a:rPr sz="1200" b="0">
                <a:solidFill>
                  <a:srgbClr val="314158"/>
                </a:solidFill>
              </a:rPr>
              <a:t>Kumbhani DJ, et al. JACC 2026</a:t>
            </a:r>
          </a:p>
          <a:p xmlns:a="http://schemas.openxmlformats.org/drawingml/2006/main">
            <a:pPr algn="l">
              <a:defRPr sz="1200" b="0">
                <a:solidFill>
                  <a:srgbClr val="314158"/>
                </a:solidFill>
              </a:defRPr>
            </a:pPr>
            <a:r>
              <a:rPr sz="1200" b="0">
                <a:solidFill>
                  <a:srgbClr val="314158"/>
                </a:solidFill>
              </a:rPr>
              <a:t>DOI: 10.1016/j.jacc.2026.05.037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38567-E779-40A2-96E6-95C043CFE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952625"/>
            <a:ext cx="65722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881F3-412D-4E7B-9830-DA343E2E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336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10007"/>
                </a:solidFill>
              </a:defRPr>
            </a:pPr>
            <a:r>
              <a:rPr sz="1200" b="1">
                <a:solidFill>
                  <a:srgbClr val="C10007"/>
                </a:solidFill>
              </a:rPr>
              <a:t>核心主軸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F90EA-8555-4992-B6FD-6996B74F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5524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20618"/>
                </a:solidFill>
              </a:defRPr>
            </a:pPr>
            <a:r>
              <a:rPr sz="2325" b="1">
                <a:solidFill>
                  <a:srgbClr val="020618"/>
                </a:solidFill>
              </a:rPr>
              <a:t>每一次處方，都在回答：</a:t>
            </a:r>
          </a:p>
          <a:p xmlns:a="http://schemas.openxmlformats.org/drawingml/2006/main">
            <a:pPr algn="l">
              <a:defRPr sz="2325" b="1">
                <a:solidFill>
                  <a:srgbClr val="020618"/>
                </a:solidFill>
              </a:defRPr>
            </a:pPr>
            <a:r>
              <a:rPr sz="2325" b="1">
                <a:solidFill>
                  <a:srgbClr val="020618"/>
                </a:solidFill>
              </a:rPr>
              <a:t>這位病人的缺血風險，</a:t>
            </a:r>
          </a:p>
          <a:p xmlns:a="http://schemas.openxmlformats.org/drawingml/2006/main">
            <a:pPr algn="l">
              <a:defRPr sz="2325" b="1">
                <a:solidFill>
                  <a:srgbClr val="020618"/>
                </a:solidFill>
              </a:defRPr>
            </a:pPr>
            <a:r>
              <a:rPr sz="2325" b="1">
                <a:solidFill>
                  <a:srgbClr val="020618"/>
                </a:solidFill>
              </a:rPr>
              <a:t>是否值得承擔出血風險？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E06DD-D517-4724-8764-E1184F4F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33875"/>
            <a:ext cx="5619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93C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40963-FB4A-4659-8D68-0E2AD9D9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24375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依臨床情境、時間軸、缺血風險與出血風險重新評估。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E7B681-FD11-4B51-8DA3-7F4C8C10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</p:spTree>
    <p:extLst>
      <p:ext uri="{BB962C8B-B14F-4D97-AF65-F5344CB8AC3E}">
        <p14:creationId xmlns:p14="http://schemas.microsoft.com/office/powerpoint/2010/main" val="92046540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FC83AC-5443-4DE2-81E9-1D868AC5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51A1B-923F-49D5-85A0-AE1322E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B3CDB-80CF-4E4A-B22C-E7870F7F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6E8050-EF86-483A-9339-2252023B9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02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00A8E2-5FAF-4877-A1A5-5DA0ECBA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9E04F-74C8-4403-A530-B7FD2924F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DECISION 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91D2E-E311-4650-B8D3-E155F59C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核心問題：缺血風險與出血風險的交換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96AFB-FE70-4244-9A23-ED2BDAF6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風險分數可以輔助判斷，但不能取代完整臨床脈絡。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2CB435-D39E-4904-9A96-176BBA22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333875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6F62E-EE1E-4437-AAF0-6C209CFB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E44521-2736-4F93-86C6-830F0956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3914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ISCHEMIC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5467A-9EDA-42D8-AE9C-57F9C838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39147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缺血風險高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416E1-82E1-493E-BD28-643C3FAF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39147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近期 ACS、PCI、STEMI、複雜病灶、多血管疾病、糖尿病、周邊動脈疾病。急性事件後早期通常最高。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FFD9DB-431F-4A0B-B889-7D1391F3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81250"/>
            <a:ext cx="4333875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FC6847-ACDF-4D30-9C50-D43E86B1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812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AA5798-F1E5-4C7B-9368-077066DE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571750"/>
            <a:ext cx="39147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BLEEDING RISK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1B14A3-69C7-4A71-BA8C-82E4C5883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38450"/>
            <a:ext cx="39147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出血風險高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2DADE8-9993-49E7-9B28-9F732D2B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429000"/>
            <a:ext cx="391477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高齡、貧血、CKD、既往出血、需抗凝、手術需求。治療越強、時間越長，累積風險越重要。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53003F-EEA2-430A-BACE-BCC176F0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238250" cy="87630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AD5E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BEECA-FE9F-4062-95FA-BDC8AC9F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0861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10007"/>
                </a:solidFill>
              </a:defRPr>
            </a:pPr>
            <a:r>
              <a:rPr sz="2550" b="1">
                <a:solidFill>
                  <a:srgbClr val="C10007"/>
                </a:solidFill>
              </a:rPr>
              <a:t>VS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7DF39-037B-49DE-9CF5-6C2E40DA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476625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2748E"/>
                </a:solidFill>
              </a:defRPr>
            </a:pPr>
            <a:r>
              <a:rPr sz="900" b="1">
                <a:solidFill>
                  <a:srgbClr val="62748E"/>
                </a:solidFill>
              </a:rPr>
              <a:t>動態重評估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6A069C-968C-4B52-B0AE-AEE2AF1B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00625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10007"/>
                </a:solidFill>
              </a:defRPr>
            </a:pPr>
            <a:r>
              <a:rPr sz="1350" b="1">
                <a:solidFill>
                  <a:srgbClr val="C10007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4BCD58-5991-49C0-99B5-76004E9F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000625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DAPT score、PRECISE-DAPT、ARC-HBR 是輔助工具，不是處方答案。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6E518E-5F5C-459A-80CF-790AA4C3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343525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10007"/>
                </a:solidFill>
              </a:defRPr>
            </a:pPr>
            <a:r>
              <a:rPr sz="1350" b="1">
                <a:solidFill>
                  <a:srgbClr val="C10007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CC5B6D-4756-4AC0-AAE8-8004D1A8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5343525"/>
            <a:ext cx="1009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20618"/>
                </a:solidFill>
              </a:defRPr>
            </a:pPr>
            <a:r>
              <a:rPr sz="1350" b="0">
                <a:solidFill>
                  <a:srgbClr val="020618"/>
                </a:solidFill>
              </a:rPr>
              <a:t>同一個藥物組合，在不同時間點可能從有益變成有害。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CC9E85-0987-41AD-8D59-C604F9AD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來源：Table 1、Central Illustration、pp. 2-10</a:t>
            </a:r>
          </a:p>
        </p:txBody>
      </p:sp>
    </p:spTree>
    <p:extLst>
      <p:ext uri="{BB962C8B-B14F-4D97-AF65-F5344CB8AC3E}">
        <p14:creationId xmlns:p14="http://schemas.microsoft.com/office/powerpoint/2010/main" val="17546150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4D5DB6-EF65-4F9E-BA56-BB60052C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27EF82-A397-4A1C-BBBF-D7956B56F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4BEC79-34BF-4F1F-B749-DFFBC10D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91450-CB0B-4F6C-B847-338CF5B0F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03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5762E-0EE0-4CC9-9EC1-A4B8D6E3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B0FDB3-88E4-4EF9-B7D4-76DD83D8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ORIGINAL FIGURE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D4958-0DC7-4F7B-A51D-F52A57E0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藥物作用位置：先把機轉放回血小板路徑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B44E12-A88E-49C8-A8FF-D4B717E3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保留原文 Figure 1，作為後續藥物組合與降階策略的機轉基礎。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9B935-1811-4072-9A09-E8385F96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6762750" cy="3857625"/>
          </a:xfrm>
          <a:prstGeom xmlns:a="http://schemas.openxmlformats.org/drawingml/2006/main" prst="roundRect">
            <a:avLst>
              <a:gd name="adj" fmla="val 14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ec90a7c54608"/>
          <a:stretch xmlns:a="http://schemas.openxmlformats.org/drawingml/2006/main"/>
        </p:blipFill>
        <p:spPr>
          <a:xfrm xmlns:a="http://schemas.openxmlformats.org/drawingml/2006/main">
            <a:off x="2429045" y="2266950"/>
            <a:ext cx="3352460" cy="347662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FE0E3-7F7A-42AB-92B3-DEEF4903C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71750"/>
            <a:ext cx="3143250" cy="238125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19BA3-1358-4154-ADF1-C7B50BA8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71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86F"/>
          </a:solidFill>
          <a:ln xmlns:a="http://schemas.openxmlformats.org/drawingml/2006/main" w="0">
            <a:solidFill>
              <a:srgbClr val="00786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4045F8-371A-4BB7-90D1-A9E6FE9A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762250"/>
            <a:ext cx="2724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READING 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1D4D5-1BB8-4FD4-BDD8-5F1BF7E0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028950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三個記憶點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A84372-1AC1-4553-8B33-72363956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619500"/>
            <a:ext cx="27241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Aspirin：TXA2</a:t>
            </a:r>
          </a:p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P2Y12 inhibitor：ADP 訊號</a:t>
            </a:r>
          </a:p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GPIIb/IIIa：最終共同路徑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284F4-8154-4F79-A51B-D14E7DF5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來源：Figure 1</a:t>
            </a:r>
          </a:p>
        </p:txBody>
      </p:sp>
    </p:spTree>
    <p:extLst>
      <p:ext uri="{BB962C8B-B14F-4D97-AF65-F5344CB8AC3E}">
        <p14:creationId xmlns:p14="http://schemas.microsoft.com/office/powerpoint/2010/main" val="8204628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6061CC-F632-47C4-BDFD-FE1AF23B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570EB-2FA4-4B0C-88EE-EE786EBF3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F38BB-805F-4EA3-BA8E-527BDCF3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BE6482-A571-4A52-8D98-99356CEE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04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CEC85E-6B32-48E2-8770-5A6F75B1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84D84C-E7B8-4CE8-9127-80F82BE0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CENTRAL ILLUSTRATION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B7BEB-F288-42B0-B24C-11B8FF8B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臨床情境決定短期與長期治療強度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0D31D2-6D7B-478B-AF4A-3A0D12A4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用原文 Central Illustration 當作整份 statement 的臨床路線圖。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D6FE63-D299-4F8F-937C-835D33FC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5238750" cy="3476625"/>
          </a:xfrm>
          <a:prstGeom xmlns:a="http://schemas.openxmlformats.org/drawingml/2006/main" prst="roundRect">
            <a:avLst>
              <a:gd name="adj" fmla="val 16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827dc805c4cf4"/>
          <a:stretch xmlns:a="http://schemas.openxmlformats.org/drawingml/2006/main"/>
        </p:blipFill>
        <p:spPr>
          <a:xfrm xmlns:a="http://schemas.openxmlformats.org/drawingml/2006/main">
            <a:off x="4457267" y="2238375"/>
            <a:ext cx="2610716" cy="319087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3141C6-2BA1-402F-AB32-7C7B16C4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85737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97406-C37C-4E0E-9B2F-9247B9DFA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9DB60C-4B04-4373-9628-66DA175D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4382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HIGH INTENSITY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7BF10-95FC-4C24-BDC3-547F06B6E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1438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ACS / PCI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A544A1-93F1-433D-8E64-5DD7291B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29000"/>
            <a:ext cx="1438275" cy="-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C2D151-69CB-4551-AE29-15DCFBCB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85737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BA71E0-B0F4-40B8-9256-34B2545DF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744736-35C1-43C1-BF22-B41A0559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48125"/>
            <a:ext cx="14382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LOWER INTENSITY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52067E-125B-41F0-BEF7-2374B3FD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14825"/>
            <a:ext cx="14382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Primary prevention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ECA515-D437-4034-87FF-66B11BEE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05375"/>
            <a:ext cx="1438275" cy="-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1C8B60-9B99-42EA-AA59-68CC4705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81250"/>
            <a:ext cx="214312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4CE8B9-6628-452A-A4AE-EB5A36BB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3812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86F"/>
          </a:solidFill>
          <a:ln xmlns:a="http://schemas.openxmlformats.org/drawingml/2006/main" w="0">
            <a:solidFill>
              <a:srgbClr val="00786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35CE9E-5C2E-49D6-8604-76F6F70E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571750"/>
            <a:ext cx="1724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CHRONIC DISEASE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C00584-17B4-4415-98AF-E9A1D455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838450"/>
            <a:ext cx="1724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CCD / PAD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25E393-3564-46AB-802C-CFFA623C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3429000"/>
            <a:ext cx="1724025" cy="-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2914F1-3CDC-420D-BE99-B8177BAB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57625"/>
            <a:ext cx="214312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B01E1D-BFBC-4DA9-AF40-46353841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57625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7100"/>
          </a:solidFill>
          <a:ln xmlns:a="http://schemas.openxmlformats.org/drawingml/2006/main" w="0">
            <a:solidFill>
              <a:srgbClr val="E171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A9E7A7-9905-4C7A-8ACB-D3BAFD35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048125"/>
            <a:ext cx="1724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SHORT COURSE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6B5EAA-E295-4A45-997A-4E71B8A6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314825"/>
            <a:ext cx="1724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Stroke / TIA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884088-6229-4955-8D50-90CE7E40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4905375"/>
            <a:ext cx="1724025" cy="-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0B32D8-71AB-4363-B017-9EC319BC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857875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5ABA28-BE15-4C64-82F1-A2D0839B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2455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C398E"/>
                </a:solidFill>
              </a:defRPr>
            </a:pPr>
            <a:r>
              <a:rPr sz="900" b="1">
                <a:solidFill>
                  <a:srgbClr val="1C398E"/>
                </a:solidFill>
              </a:rPr>
              <a:t>Primary prevention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A1B6E0-A8B0-41EB-AD73-54912AB0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857875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349BBC-6B7F-4A77-8C28-C8631DF0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9245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ACS / PCI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0F3D90-F62E-4CBB-825C-7B150B532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857875"/>
            <a:ext cx="857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A6F415-B38D-4D03-8423-88D2B75B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245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C398E"/>
                </a:solidFill>
              </a:defRPr>
            </a:pPr>
            <a:r>
              <a:rPr sz="900" b="1">
                <a:solidFill>
                  <a:srgbClr val="1C398E"/>
                </a:solidFill>
              </a:rPr>
              <a:t>CCD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99278E9-67E1-45BA-89AE-1F1060D3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857875"/>
            <a:ext cx="857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51AD908-216A-43BE-9721-2E8375DB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24550"/>
            <a:ext cx="85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786F"/>
                </a:solidFill>
              </a:defRPr>
            </a:pPr>
            <a:r>
              <a:rPr sz="900" b="1">
                <a:solidFill>
                  <a:srgbClr val="00786F"/>
                </a:solidFill>
              </a:rPr>
              <a:t>PAD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E06FCC-A7CF-43BA-93F1-7B9CFFF6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857875"/>
            <a:ext cx="1333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5CBE06-9D9B-449F-AA9F-179ABD62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924550"/>
            <a:ext cx="1333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B4D00"/>
                </a:solidFill>
              </a:defRPr>
            </a:pPr>
            <a:r>
              <a:rPr sz="900" b="1">
                <a:solidFill>
                  <a:srgbClr val="BB4D00"/>
                </a:solidFill>
              </a:rPr>
              <a:t>Stroke / TIA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20DE523-24AC-4132-8771-2A5DAB8E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來源：Central Illustration</a:t>
            </a:r>
          </a:p>
        </p:txBody>
      </p:sp>
    </p:spTree>
    <p:extLst>
      <p:ext uri="{BB962C8B-B14F-4D97-AF65-F5344CB8AC3E}">
        <p14:creationId xmlns:p14="http://schemas.microsoft.com/office/powerpoint/2010/main" val="7654130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F51442-593B-4478-82F0-D8ADF412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CDF7C0-5E39-460D-87A5-CB022D64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FD105-9ACF-436A-9963-45569B98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558B3-5B9B-43F0-9852-DE2027AE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05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DDF010-1205-4477-A6CC-A20CB24B2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9C9BA-7163-487C-87B1-525914B4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PRIMARY PREVENTION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8EC6A2-86D1-4A61-BA3D-B7E36FC60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Aspirin 初級預防：角色已經明顯縮窄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2F08F9-6B52-4286-8758-50AC6E6A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只有缺血風險夠高、出血風險夠低的選定族群，才可能有淨效益。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A43A3-316E-4B34-BC6E-33D8A0A37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3143250" cy="238125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D3290-18AA-4842-BCDD-A1A961ED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45DC8-78D2-4F9F-9A1D-AF273A42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24125"/>
            <a:ext cx="2724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CONSIDER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53D0A1-4197-4EB3-AF7E-15B5C457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90825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40-70 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1F964-FFC1-4D35-A7C9-0EC87668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27241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心血管風險較高，且沒有出血風險增加者，可考慮低劑量 aspirin。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93CD0A-ED9D-4725-91FB-71E25C19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38125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E5E8F7-2690-4122-BC7E-F7353974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CFE7C-0507-40A8-B6F9-5579A4EB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524125"/>
            <a:ext cx="2724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AVOID ROUTINE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CCB830-A5E6-4FB0-88B6-DB01CA6A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790825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&gt;70 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88D303-344B-4DDE-91CB-83D3B843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381375"/>
            <a:ext cx="27241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高齡族群常規預防使用 aspirin 應避免，出血代價通常更突出。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3F0236-3C99-4618-BD72-BAFA0ABA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33625"/>
            <a:ext cx="3143250" cy="238125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14DC7-7C30-4A09-AC1C-0CE76277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33625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7100"/>
          </a:solidFill>
          <a:ln xmlns:a="http://schemas.openxmlformats.org/drawingml/2006/main" w="0">
            <a:solidFill>
              <a:srgbClr val="E171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2BCB7A-E989-41E9-AA05-58C64305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24125"/>
            <a:ext cx="2724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LIMIT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655B96-17FA-4F3D-94F8-9983D682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90825"/>
            <a:ext cx="2724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高出血風險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63E61C-196B-4CFD-BB1B-F2D43156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381375"/>
            <a:ext cx="27241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即使 ASCVD 或 CAC 風險較高，若出血風險高，淨效益可能轉為傷害。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1C6B6A-5458-4F24-B124-634B0F2DC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20618"/>
                </a:solidFill>
              </a:defRPr>
            </a:pPr>
            <a:r>
              <a:rPr sz="1575" b="1">
                <a:solidFill>
                  <a:srgbClr val="020618"/>
                </a:solidFill>
              </a:rPr>
              <a:t>處方前先問：這是 primary prevention，還是其實已經進入 secondary prevention 的語境？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3BD217-4271-4B6B-9CE1-DE5CC47C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來源：Table 1、Primary prevention section, pp. 2, 10-11</a:t>
            </a:r>
          </a:p>
        </p:txBody>
      </p:sp>
    </p:spTree>
    <p:extLst>
      <p:ext uri="{BB962C8B-B14F-4D97-AF65-F5344CB8AC3E}">
        <p14:creationId xmlns:p14="http://schemas.microsoft.com/office/powerpoint/2010/main" val="19435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0BD1CE-0B20-4021-82B9-87B3C6C2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41D43-9122-4AA6-AC29-34A271702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50C73-7BB3-4CBE-8AC3-D4DFC126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DEBAB8-3A1D-4AF9-BF2A-72ED74B2A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06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D274DD-6BD6-4E7C-B992-8C931490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28BA32-D953-4548-BB3C-BED512B4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POST PCI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E5D8A-2B47-447E-99E8-6343D4E5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PCI 後預設期間：CCD 6 個月，ACS 12 個月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931146-FD68-413C-BFB3-95C1440A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預設期間是起點，真正的處方仍要依病人風險調整。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96C05-67B0-453B-92C9-D417DA58C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C398E"/>
                </a:solidFill>
              </a:defRPr>
            </a:pPr>
            <a:r>
              <a:rPr sz="1200" b="1">
                <a:solidFill>
                  <a:srgbClr val="1C398E"/>
                </a:solidFill>
              </a:rPr>
              <a:t>CCD + PCI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5E804-238B-4249-A5F0-0A07AC47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19400"/>
            <a:ext cx="8001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C398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5BDCB-7322-4910-A7A7-704E7A0A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76500"/>
            <a:ext cx="20955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A6FB42-2B06-46BE-B532-2D49A454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86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398E"/>
                </a:solidFill>
              </a:defRPr>
            </a:pPr>
            <a:r>
              <a:rPr sz="1350" b="1">
                <a:solidFill>
                  <a:srgbClr val="1C398E"/>
                </a:solidFill>
              </a:rPr>
              <a:t>PCI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E1C158-EE59-437A-B942-3DA3DF28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381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6424EF-0CF9-4987-A4DE-49CABED6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09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20618"/>
                </a:solidFill>
              </a:defRPr>
            </a:pPr>
            <a:r>
              <a:rPr sz="1800" b="1">
                <a:solidFill>
                  <a:srgbClr val="020618"/>
                </a:solidFill>
              </a:rPr>
              <a:t>DAPT 6 個月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7BB9B2-1987-403F-9330-5D2C29BD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05125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314158"/>
                </a:solidFill>
              </a:defRPr>
            </a:pPr>
            <a:r>
              <a:rPr sz="900" b="0">
                <a:solidFill>
                  <a:srgbClr val="314158"/>
                </a:solidFill>
              </a:rPr>
              <a:t>Aspirin + clopidogrel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E3F357-91B1-459A-AAA9-9DCAA696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76500"/>
            <a:ext cx="157162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9AD03-BE45-4D8A-9453-3451AC13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860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398E"/>
                </a:solidFill>
              </a:defRPr>
            </a:pPr>
            <a:r>
              <a:rPr sz="1350" b="1">
                <a:solidFill>
                  <a:srgbClr val="1C398E"/>
                </a:solidFill>
              </a:rPr>
              <a:t>SAPT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D403CE-B824-4DCF-B249-7B812C5F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10007"/>
                </a:solidFill>
              </a:defRPr>
            </a:pPr>
            <a:r>
              <a:rPr sz="1200" b="1">
                <a:solidFill>
                  <a:srgbClr val="C10007"/>
                </a:solidFill>
              </a:rPr>
              <a:t>ACS + PCI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9618F2-E0D4-47D2-BE5C-B3BADB42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95775"/>
            <a:ext cx="8001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1000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164F27-D690-4215-A2F5-6BF0209D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52875"/>
            <a:ext cx="209550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1000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01B21F-068D-4287-B37D-BE7284D6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624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10007"/>
                </a:solidFill>
              </a:defRPr>
            </a:pPr>
            <a:r>
              <a:rPr sz="1350" b="1">
                <a:solidFill>
                  <a:srgbClr val="C10007"/>
                </a:solidFill>
              </a:rPr>
              <a:t>PCI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06DAFC-D6AA-4C70-BF6D-3EC6B1FE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52875"/>
            <a:ext cx="2381250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C1000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6EBE62-E27D-4ADA-88CB-0C7701D6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862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20618"/>
                </a:solidFill>
              </a:defRPr>
            </a:pPr>
            <a:r>
              <a:rPr sz="1800" b="1">
                <a:solidFill>
                  <a:srgbClr val="020618"/>
                </a:solidFill>
              </a:rPr>
              <a:t>DAPT 12 個月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D6DD7D-3B19-45CD-9DB6-82B4FD39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815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314158"/>
                </a:solidFill>
              </a:defRPr>
            </a:pPr>
            <a:r>
              <a:rPr sz="900" b="0">
                <a:solidFill>
                  <a:srgbClr val="314158"/>
                </a:solidFill>
              </a:rPr>
              <a:t>Aspirin + potent P2Y12 inhibitor 常為優先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C187CE-E38B-4468-9EE4-4E1E6957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952875"/>
            <a:ext cx="1571625" cy="685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1000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9D2742-B436-4CB8-A7DA-15E104B2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16242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10007"/>
                </a:solidFill>
              </a:defRPr>
            </a:pPr>
            <a:r>
              <a:rPr sz="1350" b="1">
                <a:solidFill>
                  <a:srgbClr val="C10007"/>
                </a:solidFill>
              </a:rPr>
              <a:t>SAPT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2BA38F-EB48-47BD-9D8B-B5603FA4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435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10007"/>
                </a:solidFill>
              </a:defRPr>
            </a:pPr>
            <a:r>
              <a:rPr sz="1275" b="1">
                <a:solidFill>
                  <a:srgbClr val="C10007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2C8FC2-F704-48C9-B4A6-D7F74EB9F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高出血風險可考慮縮短；高缺血風險則需謹慎評估是否延長。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1E53B2-F41A-4A20-B0A4-33A69455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4830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C10007"/>
                </a:solidFill>
              </a:defRPr>
            </a:pPr>
            <a:r>
              <a:rPr sz="1275" b="1">
                <a:solidFill>
                  <a:srgbClr val="C10007"/>
                </a:solidFill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8D1440-BE66-4EDA-98CA-175C0848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483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20618"/>
                </a:solidFill>
              </a:defRPr>
            </a:pPr>
            <a:r>
              <a:rPr sz="1275" b="0">
                <a:solidFill>
                  <a:srgbClr val="020618"/>
                </a:solidFill>
              </a:rPr>
              <a:t>P2Y12 選擇需看年齡、腎功能、出血史、耐受性與交互作用。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1965E2-8A98-4A9D-B2C8-97CA8094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來源：Table 1、Table 2、Postrevascularization section, pp. 2, 5-14</a:t>
            </a:r>
          </a:p>
        </p:txBody>
      </p:sp>
    </p:spTree>
    <p:extLst>
      <p:ext uri="{BB962C8B-B14F-4D97-AF65-F5344CB8AC3E}">
        <p14:creationId xmlns:p14="http://schemas.microsoft.com/office/powerpoint/2010/main" val="14386987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06CB3C-4587-4DA6-BE84-207DD7969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C8506D-5C62-4A78-A2AD-DAC1C7DB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4450CF-CDCE-4A51-8E38-B0E4A60CA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88591-8EEB-4970-BD60-13BC1569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07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A93B23-C7EF-4246-A060-B02C20B5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02BA6-C1E3-4B22-AEBA-94745D68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BLEEDING REDUCTION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01B8C-DD5D-4930-B953-07DABC0C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當出血風險主導：縮短 DAPT 或降階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1FE70-6BC0-413D-84D2-5CB2D088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核心不是降低治療品質，而是把強度調回病人能承受的範圍。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C1F38-4FC7-4C9C-A73F-2F9CC044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238375" cy="1381125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1000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2D19F-E197-46A1-B965-59042201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10007"/>
                </a:solidFill>
              </a:defRPr>
            </a:pPr>
            <a:r>
              <a:rPr sz="1350" b="1">
                <a:solidFill>
                  <a:srgbClr val="C10007"/>
                </a:solidFill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97A85-3DEB-4E87-B3BA-10F571656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628900"/>
            <a:ext cx="1381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早期高強度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32CC5E-BCE2-4201-9C26-296E7279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ACS / PCI 後早期</a:t>
            </a:r>
          </a:p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缺血風險最高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EECC54-41DD-46A8-AED7-6940944B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43250"/>
            <a:ext cx="47625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A55DE2-5CD2-400C-B22F-795B9518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600325"/>
            <a:ext cx="2238375" cy="1381125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171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FA647E-BC6D-42F7-B878-B3F397147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00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17100"/>
                </a:solidFill>
              </a:defRPr>
            </a:pPr>
            <a:r>
              <a:rPr sz="1350" b="1">
                <a:solidFill>
                  <a:srgbClr val="E17100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1A333-3E06-444D-A535-314C2024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800350"/>
            <a:ext cx="1381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短 DAPT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5CC7F-41FF-495D-99C2-DFE4CC6E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21945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1-3 個月後</a:t>
            </a:r>
          </a:p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選定病人可轉策略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150B88-1A4E-4DF0-BEB7-8EF2CCF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314700"/>
            <a:ext cx="47625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E8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484DD6-FA57-42F0-B3FB-F4DC4B0D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71775"/>
            <a:ext cx="2238375" cy="1381125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CA1EA-574D-46DC-98B9-D528C2CD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718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C398E"/>
                </a:solidFill>
              </a:defRPr>
            </a:pPr>
            <a:r>
              <a:rPr sz="1350" b="1">
                <a:solidFill>
                  <a:srgbClr val="1C398E"/>
                </a:solidFill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7389C3-D771-4759-BAFD-80641AB3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971800"/>
            <a:ext cx="1381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P2Y12 單用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5355C1-D6E2-4BEF-84C8-5AEC79A3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9090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降低出血</a:t>
            </a:r>
          </a:p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維持抗血小板效果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7EC9F-428A-49C2-A9E8-93274E19D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3486150"/>
            <a:ext cx="476250" cy="171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7227AF-995D-4F61-BA62-72DCFD09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943225"/>
            <a:ext cx="2238375" cy="1381125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786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E50DBC-2A19-4664-8AC2-B3D344AC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143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86F"/>
                </a:solidFill>
              </a:defRPr>
            </a:pPr>
            <a:r>
              <a:rPr sz="1350" b="1">
                <a:solidFill>
                  <a:srgbClr val="00786F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1EDC18-B4E8-475A-9FB5-1404C2BD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143250"/>
            <a:ext cx="1381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降階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A1CA67-D039-4072-8807-548495BF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562350"/>
            <a:ext cx="176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potent P2Y12</a:t>
            </a:r>
          </a:p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轉 clopidogrel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54D2F4-4BE0-4F48-AFEE-0C9ABA1E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05375"/>
            <a:ext cx="8572500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F5797B-9018-4C05-8FFE-38436B21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05375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78BD5F-8BBD-4B93-BFBF-297118C4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095875"/>
            <a:ext cx="815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CLINICAL GUARDRAIL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A3D380-30DF-4A25-80B0-10EC5506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362575"/>
            <a:ext cx="8153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STEMI 或高缺血風險病人，不宜把降強度想得太自動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2120D4-F25D-4461-8B61-0466EC8A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953125"/>
            <a:ext cx="8153400" cy="-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BE51BB-997A-4561-BFDD-4FDB6429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來源：Consensus recommendations postrevascularization, pp. 12-14</a:t>
            </a:r>
          </a:p>
        </p:txBody>
      </p:sp>
    </p:spTree>
    <p:extLst>
      <p:ext uri="{BB962C8B-B14F-4D97-AF65-F5344CB8AC3E}">
        <p14:creationId xmlns:p14="http://schemas.microsoft.com/office/powerpoint/2010/main" val="13181693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286CD4-1B4F-4F2F-B45D-4E18A973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2A7C7-A9AD-4E39-93B5-E4EE8641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B65F56-2B09-4599-9994-6874DAB9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2AA4AC-046E-47A0-A5F3-67F9FF5C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08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F2E5C-8B07-4185-AA2A-DA30A455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746FB1-5A4F-4FF2-AA37-F8E5D6BB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BEYOND 1 YEAR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B2796-F38C-4A6C-B380-B21ABC77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一年後次級預防：不是只能回到 aspirin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10E095-235D-4EA6-967C-4B7D510E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長期策略越來越個別化，重點是選對病人。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9AACD-5605-4878-998B-9CAB7BDF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3333750" cy="2571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84B1B0-E2F6-4E70-9B96-F21A3134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860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8868C4-DE87-40A0-93CB-2DD82FDE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OPTION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4A87DD-A290-44FA-AAA4-7414EDCC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Clopidogrel 單用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32E99-B57F-4125-83C1-A5370523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2914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新資料顯示，相較 aspirin，可能有較佳缺血保護，且出血相近或較低。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5FA0B-20A1-4BA2-8E96-5013C698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3333750" cy="2571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071F1-6A02-4D8B-A5BD-7B070E4B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2860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7100"/>
          </a:solidFill>
          <a:ln xmlns:a="http://schemas.openxmlformats.org/drawingml/2006/main" w="0">
            <a:solidFill>
              <a:srgbClr val="E171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D28EDE-DA86-4766-9AF0-CC3329DF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476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OPTION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66C77-D234-42DF-B8BA-35BDE76F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74320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延長 DAPT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924052-1AB0-4B73-809F-7518D278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333750"/>
            <a:ext cx="2914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只適合高缺血、可接受出血風險的選定病人；效益需與出血交換。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9172E9-3288-45EE-985B-65AE78AE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86000"/>
            <a:ext cx="3333750" cy="25717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F02BC4-5D6B-4320-BF78-F0E85F3E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860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86F"/>
          </a:solidFill>
          <a:ln xmlns:a="http://schemas.openxmlformats.org/drawingml/2006/main" w="0">
            <a:solidFill>
              <a:srgbClr val="00786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7D60B3-309B-4E3B-AC75-75EE4567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76500"/>
            <a:ext cx="2914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OPTION 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1D2B9-9026-47BA-AEB6-940D0B58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3200"/>
            <a:ext cx="2914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Rivaroxaban 2.5 mg bid + ASA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9B1FF6-02ED-4B08-AD86-7C415CA9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33750"/>
            <a:ext cx="29146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可考慮於穩定 CAD 或 PAD、無既往重大出血或腦血管事件的高風險病人。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94146A-A4D8-46CE-AADF-61BFE366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286375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長期治療要回到：缺血事件風險、出血可承受度、共病與病人偏好。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549E53-2F8F-45D3-B0D9-239EFEF0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來源：Long-term antithrombotic therapy section, pp. 14-16</a:t>
            </a:r>
          </a:p>
        </p:txBody>
      </p:sp>
    </p:spTree>
    <p:extLst>
      <p:ext uri="{BB962C8B-B14F-4D97-AF65-F5344CB8AC3E}">
        <p14:creationId xmlns:p14="http://schemas.microsoft.com/office/powerpoint/2010/main" val="11725009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6099D9A-03A2-46B8-BA62-5F922FCB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3D991-EEC7-4295-B698-63B0F9FA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00C07-83CD-4A2A-A315-D694B9B3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DE8D6-E15B-4663-948A-98959FF6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09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7BD01-8B60-4446-B493-F95ABBE1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1B5936-8275-4845-AB02-297081D08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PERIPHERAL ARTERY DISEASE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99C8B7-2105-4DED-8C16-9A3738EC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PAD：介入後短期強化，長期回到風險分層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244CE-4515-428A-B30A-259605FD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PAD 的抗血栓策略不能完全照搬 coronary PCI。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F10A5B-9ABD-48D9-96A8-73EC443E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95300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87B30-A647-4DEC-AAD3-83C183DA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4D7E4-CB6D-40B6-9DAE-94557BC0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24125"/>
            <a:ext cx="453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近期血管內介入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29B5D1-13D2-4B35-84A1-F8253117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90825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DAPT 1-6 個月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ECF05-2037-4AF7-9DD2-66A1153F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81375"/>
            <a:ext cx="4533900" cy="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F71FA-1B18-4FA4-BE30-ADC501AA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33625"/>
            <a:ext cx="495300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236C8-F3B2-4C9D-8F61-3E68B35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33625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7100"/>
          </a:solidFill>
          <a:ln xmlns:a="http://schemas.openxmlformats.org/drawingml/2006/main" w="0">
            <a:solidFill>
              <a:srgbClr val="E171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CB9F49-2741-4FBA-ACE7-BCC850AA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24125"/>
            <a:ext cx="453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手術 bypass 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51AB70-FB22-4D8D-BE0B-04A8EC62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790825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較短 DAPT 或單一治療常較合理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CF01FE-9346-4FC4-B1FC-B0396DAA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81375"/>
            <a:ext cx="4533900" cy="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5F0991-31C8-4D8A-A9DE-2033B978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95300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B763F2-6C7F-4282-90E9-05DED6B6A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0BB344-AAD8-47E3-A095-48C86EB5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453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症狀性 PAD 長期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2B2D46-D928-4DE2-91C2-EFEDB4F2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577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Aspirin 或 clopidogrel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7E4522-5FBB-4CE7-87DF-6710FF68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48250"/>
            <a:ext cx="4533900" cy="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E4A862-CBF6-403E-AB4F-93C73839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4953000" cy="123825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0FDFA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B795E7-36F6-47F0-AB69-13CA0ED3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86F"/>
          </a:solidFill>
          <a:ln xmlns:a="http://schemas.openxmlformats.org/drawingml/2006/main" w="0">
            <a:solidFill>
              <a:srgbClr val="00786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CC4247-7D69-402D-B1AE-1CB2B35A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453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高風險且可接受出血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20D71D-6631-4B85-B0D4-A1C82197D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45770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ASA + rivaroxaban 2.5 mg bid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6B70A7-BECD-4F4C-935E-1D0C2127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5048250"/>
            <a:ext cx="4533900" cy="47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547F96-06DD-4DFE-8D98-46DB77FD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來源：PAD section, pp. 16-18</a:t>
            </a:r>
          </a:p>
        </p:txBody>
      </p:sp>
    </p:spTree>
    <p:extLst>
      <p:ext uri="{BB962C8B-B14F-4D97-AF65-F5344CB8AC3E}">
        <p14:creationId xmlns:p14="http://schemas.microsoft.com/office/powerpoint/2010/main" val="129954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AF524E-A808-4883-A04B-8EAC9306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5CEE86-C44B-4444-A5D5-0C7919B7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5F5F2-96A5-4BAD-9DB6-4E52C23F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9C848-7053-48ED-B5A3-064F4791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10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02472-9328-4BCC-B645-A6996CE6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5194DB-0B94-4B37-8633-18181609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STROKE / TIA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EDE16A-AB13-48F1-9AD1-39412E1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輕微中風或高風險 TIA：DAPT 是短程策略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846B8-80CF-43B3-B68D-26A0C78A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重點是早期啟動、短期使用、及時回到單一抗血小板治療。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C96B3B-BBB5-45A2-B72C-D5C77C2BE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2143125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230E4B-1379-4DFA-B61D-A9723758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398E"/>
                </a:solidFill>
              </a:defRPr>
            </a:pPr>
            <a:r>
              <a:rPr sz="1350" b="1">
                <a:solidFill>
                  <a:srgbClr val="1C398E"/>
                </a:solidFill>
              </a:rPr>
              <a:t>辨識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9B6BAA-F075-40E1-A8B4-AB5AF732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NIHSS &lt;=3</a:t>
            </a:r>
          </a:p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或 ABCD2 &gt;=4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8B3FDD-C049-412E-A29E-B7E7493B0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19375"/>
            <a:ext cx="2143125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D7483-64B2-4CA0-B55C-60C5E394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05125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398E"/>
                </a:solidFill>
              </a:defRPr>
            </a:pPr>
            <a:r>
              <a:rPr sz="1350" b="1">
                <a:solidFill>
                  <a:srgbClr val="1C398E"/>
                </a:solidFill>
              </a:rPr>
              <a:t>啟動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E957BD-4C4B-4A85-A090-F4A51F2A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3337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Aspirin + clopidogrel</a:t>
            </a:r>
          </a:p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12-24 小時內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B0EF02-74C9-4C91-AB07-4368F20C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9375"/>
            <a:ext cx="2143125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C1000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B80FC-2B38-40ED-B215-2BD62C7F8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C10007"/>
                </a:solidFill>
              </a:defRPr>
            </a:pPr>
            <a:r>
              <a:rPr sz="1350" b="1">
                <a:solidFill>
                  <a:srgbClr val="C10007"/>
                </a:solidFill>
              </a:rPr>
              <a:t>短程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D1CD7-77F3-45BE-820A-7403F0C1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持續約 21 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3C5CB1-4389-4A29-9BE7-1A8D64E0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19375"/>
            <a:ext cx="2143125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292557-B0DF-4615-9027-95BDD47F2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905125"/>
            <a:ext cx="2143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C398E"/>
                </a:solidFill>
              </a:defRPr>
            </a:pPr>
            <a:r>
              <a:rPr sz="1350" b="1">
                <a:solidFill>
                  <a:srgbClr val="1C398E"/>
                </a:solidFill>
              </a:rPr>
              <a:t>維持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AE22B-E067-45F0-B4BE-241038BE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3337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轉為單一</a:t>
            </a:r>
          </a:p>
          <a:p xmlns:a="http://schemas.openxmlformats.org/drawingml/2006/main">
            <a:pPr algn="ctr">
              <a:defRPr sz="1350" b="1">
                <a:solidFill>
                  <a:srgbClr val="020618"/>
                </a:solidFill>
              </a:defRPr>
            </a:pPr>
            <a:r>
              <a:rPr sz="1350" b="1">
                <a:solidFill>
                  <a:srgbClr val="020618"/>
                </a:solidFill>
              </a:rPr>
              <a:t>抗血小板治療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9D713B-CF85-4959-A89E-8500EFBE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333750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34F81B-E1FE-4E8A-A96A-1D6CFD16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333750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E8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CB2038-CB83-48C6-A6EB-5AFB2C99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33750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2E8F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8E7908-953A-432E-AC0F-83626F6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10125"/>
            <a:ext cx="8620125" cy="78105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9FC6FE-5510-4713-9CD7-81D550BC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10125"/>
            <a:ext cx="66675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CD6FB8-AA52-444A-B3E9-7C039E049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000625"/>
            <a:ext cx="820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CAUTION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959D12-8F1B-4FC8-A44E-5F12B777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67325"/>
            <a:ext cx="8201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長期 DAPT 不建議；嚴重中風或血栓溶解後情境需另行判斷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157749-17AB-45FB-9E67-97192804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857875"/>
            <a:ext cx="8201025" cy="-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24FB41-7991-4594-BEB6-5947E6C0E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來源：Stroke/TIA section, pp. 16-18</a:t>
            </a:r>
          </a:p>
        </p:txBody>
      </p:sp>
    </p:spTree>
    <p:extLst>
      <p:ext uri="{BB962C8B-B14F-4D97-AF65-F5344CB8AC3E}">
        <p14:creationId xmlns:p14="http://schemas.microsoft.com/office/powerpoint/2010/main" val="1761465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00B478-593C-43C8-A37E-0E134517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06166D-C8BA-4AAC-9FC2-7D856FD9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F8B00-06F2-4BE1-8BA5-CD214D91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37582B-4171-4959-8484-ECD2A580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11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4D4047-B933-4F4B-A6D8-9D4EAFE2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1F8667-624F-439D-9C62-35766F936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OAC / SURGERY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AABCAA-91AB-41F0-AF3C-77F18FB2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抗凝併用與手術前後：少即是多，時間很重要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D807B5-6681-470A-8BDC-0E9856AA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這一頁是臨床操作面最容易出錯的地方。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BBA340-E813-486F-B696-42536361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4953000" cy="242887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D9AB1-E01F-4DCF-ADB8-8769FC0A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81250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51FDE-CF7B-4290-BDE3-B31C685A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571750"/>
            <a:ext cx="453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OAC OVERLAP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4699FD-88F9-4267-B559-5F3F6E08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8384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Triple therapy 避免長期使用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B15F39-F093-47D0-AB47-BDF4EF07C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429000"/>
            <a:ext cx="4533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OAC + aspirin + P2Y12 抑制劑出血風險高。PCI 後若需抗凝，aspirin 通常可在 1 個月內停用；clopidogrel + DOAC 為常見組合。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8FD5F4-2FB2-45B9-B89B-1F5639F5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81250"/>
            <a:ext cx="4953000" cy="2428875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2B3D3F-D305-42D0-9449-920243909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81250"/>
            <a:ext cx="66675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C3A0D-8C6D-413E-92E4-AB2830C9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571750"/>
            <a:ext cx="453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PERIOPERATIVE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EB931A-4C8B-4A92-A59B-7ABB974CF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2838450"/>
            <a:ext cx="453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20618"/>
                </a:solidFill>
              </a:defRPr>
            </a:pPr>
            <a:r>
              <a:rPr sz="1725" b="1">
                <a:solidFill>
                  <a:srgbClr val="020618"/>
                </a:solidFill>
              </a:rPr>
              <a:t>先看 PCI 時間軸，再看停藥天數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A64AB6-234D-4F98-8D41-FA45221B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429000"/>
            <a:ext cx="45339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CCS PCI 後 elective surgery 盡量延後 &gt;=6 個月；ACS PCI 後盡量延後 12 個月。clopidogrel/ticagrelor 術前 5 天，prasugrel 術前 7 天。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73EBDD-76D0-4E2A-9C0A-8B5846FC1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286375"/>
            <a:ext cx="981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20618"/>
                </a:solidFill>
              </a:defRPr>
            </a:pPr>
            <a:r>
              <a:rPr sz="1575" b="1">
                <a:solidFill>
                  <a:srgbClr val="020618"/>
                </a:solidFill>
              </a:rPr>
              <a:t>原則：降低堆疊、縮短重疊、避免在支架風險最高時過早停藥。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941B5-0DA0-4D7D-83F8-69B97286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來源：AF/VTE overlap、Table 5、Perioperative management section, pp. 17-19</a:t>
            </a:r>
          </a:p>
        </p:txBody>
      </p:sp>
    </p:spTree>
    <p:extLst>
      <p:ext uri="{BB962C8B-B14F-4D97-AF65-F5344CB8AC3E}">
        <p14:creationId xmlns:p14="http://schemas.microsoft.com/office/powerpoint/2010/main" val="15348602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892592-4D4B-4951-8930-028FF2FB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98E"/>
          </a:solidFill>
          <a:ln xmlns:a="http://schemas.openxmlformats.org/drawingml/2006/main" w="0">
            <a:solidFill>
              <a:srgbClr val="1C398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AA966-34A0-4413-9EB5-9D04DFBC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"/>
            <a:ext cx="1219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10007"/>
          </a:solidFill>
          <a:ln xmlns:a="http://schemas.openxmlformats.org/drawingml/2006/main" w="0">
            <a:solidFill>
              <a:srgbClr val="C10007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A9F77E-BD55-4326-BEBC-F3DC70F4C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2875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ACC Scientific Statement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DC973-8A29-40FA-97E4-1C02B1B9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1428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12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A33381-E508-482E-B801-6CBF9323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4198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90A1B9"/>
                </a:solidFill>
              </a:defRPr>
            </a:pPr>
            <a:r>
              <a:rPr sz="900" b="1">
                <a:solidFill>
                  <a:srgbClr val="90A1B9"/>
                </a:solidFill>
              </a:rPr>
              <a:t>阿婷醫師的讀書筆記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B149E-B8BB-4386-8231-1ED6A4BE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10007"/>
                </a:solidFill>
              </a:defRPr>
            </a:pPr>
            <a:r>
              <a:rPr sz="900" b="1">
                <a:solidFill>
                  <a:srgbClr val="C10007"/>
                </a:solidFill>
              </a:rPr>
              <a:t>TAKE-HOME FRAMEWORK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2BBE9B-EDCA-4637-9E81-5D15EFA6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20618"/>
                </a:solidFill>
              </a:defRPr>
            </a:pPr>
            <a:r>
              <a:rPr sz="2550" b="1">
                <a:solidFill>
                  <a:srgbClr val="020618"/>
                </a:solidFill>
              </a:rPr>
              <a:t>四步驟收束：情境、風險、時間、重評估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C2C4B2-2CB6-4E70-8174-90FE921C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14158"/>
                </a:solidFill>
              </a:defRPr>
            </a:pPr>
            <a:r>
              <a:rPr sz="1275" b="0">
                <a:solidFill>
                  <a:srgbClr val="314158"/>
                </a:solidFill>
              </a:rPr>
              <a:t>抗血小板治療不是一次決定，而是一段需要追蹤的風險管理。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F3DCE-1AD4-4C1F-A085-F232575F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286000" cy="214312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0B1365-1D6E-4977-BE20-B665225D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10007"/>
                </a:solidFill>
              </a:defRPr>
            </a:pPr>
            <a:r>
              <a:rPr sz="2250" b="1">
                <a:solidFill>
                  <a:srgbClr val="C10007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9393FB-B0C8-4E97-B195-319A5E86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66700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確認情境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2F070-B6ED-4AA2-AF13-E9E2AC80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90875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primary prevention、ACS、PCI、CCD、PAD、stroke/TIA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4C534-F51D-4726-9964-81312476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333625"/>
            <a:ext cx="2286000" cy="214312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545464-E7A5-4EAA-BC72-8DF22107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571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10007"/>
                </a:solidFill>
              </a:defRPr>
            </a:pPr>
            <a:r>
              <a:rPr sz="2250" b="1">
                <a:solidFill>
                  <a:srgbClr val="C10007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D3FE0E-3C43-4622-AC27-56C11F4E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6700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估缺血風險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B6C4AF-710D-4528-A9AD-3DD736F0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190875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近期事件、複雜病灶、多血管疾病、PAD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884E28-5820-43EF-BC43-B3C472F4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2286000" cy="214312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BB4299-57D4-4A72-A7A1-3384783C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10007"/>
                </a:solidFill>
              </a:defRPr>
            </a:pPr>
            <a:r>
              <a:rPr sz="2250" b="1">
                <a:solidFill>
                  <a:srgbClr val="C10007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41A89C-35E5-44CF-939C-84EA07FE5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6700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估出血風險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B82AAB-A620-4E68-A6A2-D656AE4B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90875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高齡、貧血、CKD、既往出血、抗凝、手術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E31ACE-99A4-473D-8FD7-A73351C1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333625"/>
            <a:ext cx="2286000" cy="2143125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E8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3E9677-48E6-47BE-9201-7ACE2732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5717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10007"/>
                </a:solidFill>
              </a:defRPr>
            </a:pPr>
            <a:r>
              <a:rPr sz="2250" b="1">
                <a:solidFill>
                  <a:srgbClr val="C10007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2A0DDF-DABD-4EB4-AF1A-8E3C2753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266700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20618"/>
                </a:solidFill>
              </a:defRPr>
            </a:pPr>
            <a:r>
              <a:rPr sz="1500" b="1">
                <a:solidFill>
                  <a:srgbClr val="020618"/>
                </a:solidFill>
              </a:rPr>
              <a:t>定期重評估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D8FB0B-7B86-4F37-8C52-F9AF6B85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190875"/>
            <a:ext cx="180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14158"/>
                </a:solidFill>
              </a:defRPr>
            </a:pPr>
            <a:r>
              <a:rPr sz="1125" b="0">
                <a:solidFill>
                  <a:srgbClr val="314158"/>
                </a:solidFill>
              </a:rPr>
              <a:t>服藥規則性、副作用、出血、交互作用、病人偏好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DA28D0-6137-46E1-B585-106CCC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05375"/>
            <a:ext cx="914400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1C398E"/>
          </a:solidFill>
          <a:ln xmlns:a="http://schemas.openxmlformats.org/drawingml/2006/main" w="9525">
            <a:solidFill>
              <a:srgbClr val="1C398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AD1AE0-734A-4E65-9105-BE85AC4C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292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工具：DAPT score、PRECISE-DAPT、ARC-HBR、ASCVD Risk Estimator Plus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5EADE5-4392-4544-861D-1C1353E6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DBEAFE"/>
                </a:solidFill>
              </a:defRPr>
            </a:pPr>
            <a:r>
              <a:rPr sz="975" b="1">
                <a:solidFill>
                  <a:srgbClr val="DBEAFE"/>
                </a:solidFill>
              </a:rPr>
              <a:t>只作輔助，不取代臨床判斷。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AD1C4D-DECC-4F33-8778-E8709E4A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2748E"/>
                </a:solidFill>
              </a:defRPr>
            </a:pPr>
            <a:r>
              <a:rPr sz="825" b="1">
                <a:solidFill>
                  <a:srgbClr val="62748E"/>
                </a:solidFill>
              </a:rPr>
              <a:t>教育用途整理；臨床決策請回到原文與當地指引。</a:t>
            </a:r>
          </a:p>
        </p:txBody>
      </p:sp>
    </p:spTree>
    <p:extLst>
      <p:ext uri="{BB962C8B-B14F-4D97-AF65-F5344CB8AC3E}">
        <p14:creationId xmlns:p14="http://schemas.microsoft.com/office/powerpoint/2010/main" val="3316038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2026-07-03T16:38:53.1340000Z</dcterms:created>
  <dcterms:modified xsi:type="dcterms:W3CDTF">2026-07-03T16:38:53.1340000Z</dcterms:modified>
</coreProperties>
</file>