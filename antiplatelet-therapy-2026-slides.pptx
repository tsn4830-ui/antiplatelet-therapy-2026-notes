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05a794f7b47e8" /><Relationship Type="http://schemas.openxmlformats.org/officeDocument/2006/relationships/extended-properties" Target="/docProps/app.xml" Id="R7c7d55cbf56346c9" /><Relationship Type="http://schemas.openxmlformats.org/officeDocument/2006/relationships/officeDocument" Target="/ppt/presentation.xml" Id="R5ae817421334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051b3ce8f646e8"/>
  </p:sldMasterIdLst>
  <p:notesMasterIdLst>
    <p:notesMasterId xmlns:r="http://schemas.openxmlformats.org/officeDocument/2006/relationships" r:id="Rc07c1d9c115a46d7"/>
  </p:notesMasterIdLst>
  <p:sldIdLst>
    <p:sldId xmlns:r="http://schemas.openxmlformats.org/officeDocument/2006/relationships" id="256" r:id="R1f669bd6602c424d"/>
    <p:sldId xmlns:r="http://schemas.openxmlformats.org/officeDocument/2006/relationships" id="257" r:id="Rb4e3c438dda24a61"/>
    <p:sldId xmlns:r="http://schemas.openxmlformats.org/officeDocument/2006/relationships" id="258" r:id="Ra2bfb4130d5a4837"/>
    <p:sldId xmlns:r="http://schemas.openxmlformats.org/officeDocument/2006/relationships" id="259" r:id="R9f0210b5fe4f42f0"/>
    <p:sldId xmlns:r="http://schemas.openxmlformats.org/officeDocument/2006/relationships" id="260" r:id="Reee5148a25ec4084"/>
    <p:sldId xmlns:r="http://schemas.openxmlformats.org/officeDocument/2006/relationships" id="261" r:id="Rb18e71c505d94691"/>
    <p:sldId xmlns:r="http://schemas.openxmlformats.org/officeDocument/2006/relationships" id="262" r:id="R0bf0d15799a2440d"/>
    <p:sldId xmlns:r="http://schemas.openxmlformats.org/officeDocument/2006/relationships" id="263" r:id="R1d140637c2bc4a08"/>
    <p:sldId xmlns:r="http://schemas.openxmlformats.org/officeDocument/2006/relationships" id="264" r:id="R4f0dacfd34ce4802"/>
    <p:sldId xmlns:r="http://schemas.openxmlformats.org/officeDocument/2006/relationships" id="265" r:id="R065966fbea8b4c92"/>
    <p:sldId xmlns:r="http://schemas.openxmlformats.org/officeDocument/2006/relationships" id="266" r:id="Rb8da14a56970401f"/>
    <p:sldId xmlns:r="http://schemas.openxmlformats.org/officeDocument/2006/relationships" id="267" r:id="R49dc725219d84626"/>
    <p:sldId xmlns:r="http://schemas.openxmlformats.org/officeDocument/2006/relationships" id="268" r:id="Rc727dd81c1d54966"/>
    <p:sldId xmlns:r="http://schemas.openxmlformats.org/officeDocument/2006/relationships" id="269" r:id="R05aea8f17fde41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2f880f56f423b" /><Relationship Type="http://schemas.openxmlformats.org/officeDocument/2006/relationships/slideMaster" Target="/ppt/slideMasters/slideMaster1.xml" Id="R8d051b3ce8f646e8" /><Relationship Type="http://schemas.openxmlformats.org/officeDocument/2006/relationships/notesMaster" Target="/ppt/notesMasters/notesMaster1.xml" Id="Rc07c1d9c115a46d7" /><Relationship Type="http://schemas.openxmlformats.org/officeDocument/2006/relationships/presProps" Target="/ppt/presProps.xml" Id="R75b47e6c004a4762" /><Relationship Type="http://schemas.openxmlformats.org/officeDocument/2006/relationships/tableStyles" Target="/ppt/tableStyles.xml" Id="Refd4c2a57ef6437e" /><Relationship Type="http://schemas.openxmlformats.org/officeDocument/2006/relationships/slide" Target="/ppt/slides/slide1.xml" Id="R1f669bd6602c424d" /><Relationship Type="http://schemas.openxmlformats.org/officeDocument/2006/relationships/slide" Target="/ppt/slides/slide2.xml" Id="Rb4e3c438dda24a61" /><Relationship Type="http://schemas.openxmlformats.org/officeDocument/2006/relationships/slide" Target="/ppt/slides/slide3.xml" Id="Ra2bfb4130d5a4837" /><Relationship Type="http://schemas.openxmlformats.org/officeDocument/2006/relationships/slide" Target="/ppt/slides/slide4.xml" Id="R9f0210b5fe4f42f0" /><Relationship Type="http://schemas.openxmlformats.org/officeDocument/2006/relationships/slide" Target="/ppt/slides/slide5.xml" Id="Reee5148a25ec4084" /><Relationship Type="http://schemas.openxmlformats.org/officeDocument/2006/relationships/slide" Target="/ppt/slides/slide6.xml" Id="Rb18e71c505d94691" /><Relationship Type="http://schemas.openxmlformats.org/officeDocument/2006/relationships/slide" Target="/ppt/slides/slide7.xml" Id="R0bf0d15799a2440d" /><Relationship Type="http://schemas.openxmlformats.org/officeDocument/2006/relationships/slide" Target="/ppt/slides/slide8.xml" Id="R1d140637c2bc4a08" /><Relationship Type="http://schemas.openxmlformats.org/officeDocument/2006/relationships/slide" Target="/ppt/slides/slide9.xml" Id="R4f0dacfd34ce4802" /><Relationship Type="http://schemas.openxmlformats.org/officeDocument/2006/relationships/slide" Target="/ppt/slides/slide10.xml" Id="R065966fbea8b4c92" /><Relationship Type="http://schemas.openxmlformats.org/officeDocument/2006/relationships/slide" Target="/ppt/slides/slide11.xml" Id="Rb8da14a56970401f" /><Relationship Type="http://schemas.openxmlformats.org/officeDocument/2006/relationships/slide" Target="/ppt/slides/slide12.xml" Id="R49dc725219d84626" /><Relationship Type="http://schemas.openxmlformats.org/officeDocument/2006/relationships/slide" Target="/ppt/slides/slide13.xml" Id="Rc727dd81c1d54966" /><Relationship Type="http://schemas.openxmlformats.org/officeDocument/2006/relationships/slide" Target="/ppt/slides/slide14.xml" Id="R05aea8f17fde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854d7902a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3249e6aa34f51" /><Relationship Type="http://schemas.openxmlformats.org/officeDocument/2006/relationships/notesMaster" Target="/ppt/notesMasters/notesMaster1.xml" Id="R9c798849ddfb45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87c9aa9aa54852" /><Relationship Type="http://schemas.openxmlformats.org/officeDocument/2006/relationships/notesMaster" Target="/ppt/notesMasters/notesMaster1.xml" Id="R9232be312093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22d9330df4dea" /><Relationship Type="http://schemas.openxmlformats.org/officeDocument/2006/relationships/notesMaster" Target="/ppt/notesMasters/notesMaster1.xml" Id="Re10c141d8f1f48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1194de7e647a3" /><Relationship Type="http://schemas.openxmlformats.org/officeDocument/2006/relationships/notesMaster" Target="/ppt/notesMasters/notesMaster1.xml" Id="R0334b1e84cd441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d1066f9864ba2" /><Relationship Type="http://schemas.openxmlformats.org/officeDocument/2006/relationships/notesMaster" Target="/ppt/notesMasters/notesMaster1.xml" Id="R49de14c6384a4e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94b72c9ca74ee1" /><Relationship Type="http://schemas.openxmlformats.org/officeDocument/2006/relationships/notesMaster" Target="/ppt/notesMasters/notesMaster1.xml" Id="Rdf03bffee57a4f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037129868b473a" /><Relationship Type="http://schemas.openxmlformats.org/officeDocument/2006/relationships/notesMaster" Target="/ppt/notesMasters/notesMaster1.xml" Id="R9477b3ab9bc74f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0c1bea7db448aa" /><Relationship Type="http://schemas.openxmlformats.org/officeDocument/2006/relationships/notesMaster" Target="/ppt/notesMasters/notesMaster1.xml" Id="R0ef1e8d2328346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3f53cf62b5452d" /><Relationship Type="http://schemas.openxmlformats.org/officeDocument/2006/relationships/notesMaster" Target="/ppt/notesMasters/notesMaster1.xml" Id="R39346e8573a344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7b076261e5414e" /><Relationship Type="http://schemas.openxmlformats.org/officeDocument/2006/relationships/notesMaster" Target="/ppt/notesMasters/notesMaster1.xml" Id="R1cd0eab2d2f34f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26d6ed255d4eba" /><Relationship Type="http://schemas.openxmlformats.org/officeDocument/2006/relationships/notesMaster" Target="/ppt/notesMasters/notesMaster1.xml" Id="R0e54ad9b635c44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72d2529eee407b" /><Relationship Type="http://schemas.openxmlformats.org/officeDocument/2006/relationships/notesMaster" Target="/ppt/notesMasters/notesMaster1.xml" Id="R2853aad8f78146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3ee6985cf64b58" /><Relationship Type="http://schemas.openxmlformats.org/officeDocument/2006/relationships/notesMaster" Target="/ppt/notesMasters/notesMaster1.xml" Id="R02d37e67d6c044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5f759ddc43450a" /><Relationship Type="http://schemas.openxmlformats.org/officeDocument/2006/relationships/notesMaster" Target="/ppt/notesMasters/notesMaster1.xml" Id="R3a348638c6df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068be4767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359f7d9184a70" /><Relationship Type="http://schemas.openxmlformats.org/officeDocument/2006/relationships/slideLayout" Target="/ppt/slideLayouts/slideLayout1.xml" Id="Rbf574242b9b9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574242b9b9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9ee98b4314ede" /><Relationship Type="http://schemas.openxmlformats.org/officeDocument/2006/relationships/notesSlide" Target="/ppt/notesSlides/notesSlide1.xml" Id="R2b8a04c90406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6aee30634883" /><Relationship Type="http://schemas.openxmlformats.org/officeDocument/2006/relationships/notesSlide" Target="/ppt/notesSlides/notesSlide2.xml" Id="R9e5a04651a404e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76259d2d4b5c" /><Relationship Type="http://schemas.openxmlformats.org/officeDocument/2006/relationships/image" Target="/ppt/media/image.png" Id="Rf28589abc9134c62" /><Relationship Type="http://schemas.openxmlformats.org/officeDocument/2006/relationships/notesSlide" Target="/ppt/notesSlides/notesSlide3.xml" Id="Rd3aeda758ebf48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3ac7eafe4e52" /><Relationship Type="http://schemas.openxmlformats.org/officeDocument/2006/relationships/image" Target="/ppt/media/image2.png" Id="Re654ee3481584fb4" /><Relationship Type="http://schemas.openxmlformats.org/officeDocument/2006/relationships/notesSlide" Target="/ppt/notesSlides/notesSlide4.xml" Id="Rc145a5a66c8449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4bf9c68f4834" /><Relationship Type="http://schemas.openxmlformats.org/officeDocument/2006/relationships/notesSlide" Target="/ppt/notesSlides/notesSlide5.xml" Id="Rffe59562a2fd4c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09f80939b4f10" /><Relationship Type="http://schemas.openxmlformats.org/officeDocument/2006/relationships/notesSlide" Target="/ppt/notesSlides/notesSlide6.xml" Id="R6a00265e447748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b9d2f5e384f2c" /><Relationship Type="http://schemas.openxmlformats.org/officeDocument/2006/relationships/notesSlide" Target="/ppt/notesSlides/notesSlide7.xml" Id="R079f57bf3d5c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ac0ac05434587" /><Relationship Type="http://schemas.openxmlformats.org/officeDocument/2006/relationships/notesSlide" Target="/ppt/notesSlides/notesSlide8.xml" Id="Rb960e9d3c46d47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438da2283449d" /><Relationship Type="http://schemas.openxmlformats.org/officeDocument/2006/relationships/notesSlide" Target="/ppt/notesSlides/notesSlide9.xml" Id="R09f01a482662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e956d7bb048f2" /><Relationship Type="http://schemas.openxmlformats.org/officeDocument/2006/relationships/notesSlide" Target="/ppt/notesSlides/notesSlide10.xml" Id="R7708efbe27c941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1e1377d5143e7" /><Relationship Type="http://schemas.openxmlformats.org/officeDocument/2006/relationships/notesSlide" Target="/ppt/notesSlides/notesSlide11.xml" Id="R69a1024acacc42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78d5048304dc3" /><Relationship Type="http://schemas.openxmlformats.org/officeDocument/2006/relationships/notesSlide" Target="/ppt/notesSlides/notesSlide12.xml" Id="R67d1bc9a559247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80b5bad304b39" /><Relationship Type="http://schemas.openxmlformats.org/officeDocument/2006/relationships/notesSlide" Target="/ppt/notesSlides/notesSlide13.xml" Id="R23436ed1bec344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cc44add624ce3" /><Relationship Type="http://schemas.openxmlformats.org/officeDocument/2006/relationships/notesSlide" Target="/ppt/notesSlides/notesSlide14.xml" Id="Reef094b4065149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F2862-BF38-4EBA-B330-D61A80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C2CD7-9431-4899-8A55-934A05A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104CE-F0DC-4DEA-8008-78D76372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63023-1D6B-400B-B655-28A2728C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86F"/>
                </a:solidFill>
              </a:defRPr>
            </a:pPr>
            <a:r>
              <a:rPr sz="1050" b="1">
                <a:solidFill>
                  <a:srgbClr val="00786F"/>
                </a:solidFill>
              </a:rPr>
              <a:t>讀書筆記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C286E-FFFC-4286-9360-F56A7D6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抗血小板治療：</a:t>
            </a:r>
          </a:p>
          <a:p xmlns:a="http://schemas.openxmlformats.org/drawingml/2006/main">
            <a:pPr algn="l"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不是越多越久，</a:t>
            </a:r>
          </a:p>
          <a:p xmlns:a="http://schemas.openxmlformats.org/drawingml/2006/main">
            <a:pPr algn="l"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而是風險平衡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EF1D4-E627-4DC7-AAFC-02396C9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48E"/>
                </a:solidFill>
              </a:defRPr>
            </a:pPr>
            <a:r>
              <a:rPr sz="1725" b="0">
                <a:solidFill>
                  <a:srgbClr val="62748E"/>
                </a:solidFill>
              </a:rPr>
              <a:t>重點：依臨床情境、缺血風險、出血風險與時間軸調整。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D999B-2A7C-4766-AF33-F0F27E3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3667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52A73-264A-4ADC-9192-3211D715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原文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EB78F-2068-425D-BB60-A6DB20C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Kumbhani DJ, et 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D108C-7240-476F-812D-44B082D7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766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ACC Scientific Statement, JACC 2026.</a:t>
            </a:r>
          </a:p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DOI: 10.1016/j.jacc.2026.05.037</a:t>
            </a:r>
          </a:p>
        </p:txBody>
      </p:sp>
    </p:spTree>
    <p:extLst>
      <p:ext uri="{BB962C8B-B14F-4D97-AF65-F5344CB8AC3E}">
        <p14:creationId xmlns:p14="http://schemas.microsoft.com/office/powerpoint/2010/main" val="1285131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B99E3-686F-4518-99FA-D95471D4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17C47-ACAA-4B60-94D1-4F092BA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07F73-4CF2-41CD-9427-CDC83F4D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7088C-32A6-406F-8D36-556A734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DECISION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85D25-350A-41C8-BCE4-7A0ECE7E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每一次處方，都在回答同一個問題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78C4A-8B81-4D09-86BB-86462B81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57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4CD22-CF3C-445C-AD43-E737A49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缺血風險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539B5-A5D3-4318-AFCC-856D3E4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近期 ACS、PCI、STEMI、複雜病灶、多血管疾病、PAD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0B3B6-5D62-4E4F-A0B2-140CD84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vs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12658-C5B5-4846-A0CD-9CF96C6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4572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F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FA00F-D30E-433A-A9C5-5F55F9A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出血風險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0F4D5-4F12-4939-A29D-E81DF9A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0037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高齡、貧血、CKD、既往出血、需抗凝、手術需求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487F9-968D-40EF-BDDF-2423FB27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62F09-F6E1-4BEB-BC60-96F0A7A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可使用 DAPT score、PRECISE-DAPT、ARC-HBR 輔助，但不能取代整體臨床判斷。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BEF11-1ED0-41AC-A50D-6C87C8B9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B849A-681F-4B7B-A7AF-21997D93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缺血風險在急性事件後最高，出血風險則會隨治療強度與病人特性累積。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B2B48-0BB7-4149-A63C-3265EB2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6ECB5-9615-4366-A35C-55B11FA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文件反覆強調共同決策與定期重新評估。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733AB-25FA-4509-B8A7-63555E89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來源：Table 1、Central Illustration、pp. 2-10</a:t>
            </a:r>
          </a:p>
        </p:txBody>
      </p:sp>
    </p:spTree>
    <p:extLst>
      <p:ext uri="{BB962C8B-B14F-4D97-AF65-F5344CB8AC3E}">
        <p14:creationId xmlns:p14="http://schemas.microsoft.com/office/powerpoint/2010/main" val="1076150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FB148-098A-4D2C-B6FD-267CAD4C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5DC33-8CC1-4131-9434-367CCB3D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4F41-0D98-401B-A645-FAD96C2F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62000-ED59-424B-87D8-0ABBE904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ORIGINAL FIGURE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1A67A-3D5A-4C4D-8C59-7CBDFDA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常用抗血小板藥物的作用位置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589abc9134c62"/>
          <a:stretch xmlns:a="http://schemas.openxmlformats.org/drawingml/2006/main"/>
        </p:blipFill>
        <p:spPr>
          <a:xfrm xmlns:a="http://schemas.openxmlformats.org/drawingml/2006/main">
            <a:off x="3891643" y="1143000"/>
            <a:ext cx="4408714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17747-0B7F-45B3-A701-26735B6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原文 Figure 1。Aspirin 抑制 thromboxane A2；P2Y12 抑制劑阻斷 ADP 訊號；GPIIb/IIIa 抑制劑抑制最終共同路徑。</a:t>
            </a:r>
          </a:p>
        </p:txBody>
      </p:sp>
    </p:spTree>
    <p:extLst>
      <p:ext uri="{BB962C8B-B14F-4D97-AF65-F5344CB8AC3E}">
        <p14:creationId xmlns:p14="http://schemas.microsoft.com/office/powerpoint/2010/main" val="331225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6DDC63-EDFA-4975-9012-400D230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D3E02-2A42-4307-BF4E-0E1D6CE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A777C-0DE1-4AB1-A3FE-276A43F9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AF5C0-B991-40B4-AEED-C4D6FE6D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ORIGINAL CENTRAL ILLUSTRATION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AE4C0-16C8-4B3E-B406-7AF13C8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依臨床情境決定短期與長期治療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4ee3481584fb4"/>
          <a:stretch xmlns:a="http://schemas.openxmlformats.org/drawingml/2006/main"/>
        </p:blipFill>
        <p:spPr>
          <a:xfrm xmlns:a="http://schemas.openxmlformats.org/drawingml/2006/main">
            <a:off x="4225636" y="1143000"/>
            <a:ext cx="3740727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1E737-5CAC-4791-931F-EC2BCCD3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原文 Central Illustration。依 primary prevention、ACS、CCD、PAD、stroke/TIA 分層呈現短期與長期策略。</a:t>
            </a:r>
          </a:p>
        </p:txBody>
      </p:sp>
    </p:spTree>
    <p:extLst>
      <p:ext uri="{BB962C8B-B14F-4D97-AF65-F5344CB8AC3E}">
        <p14:creationId xmlns:p14="http://schemas.microsoft.com/office/powerpoint/2010/main" val="1680725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F76CEA-0AE7-4F0C-8717-CD31847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C1931-6CBE-488B-AE0F-F651B8F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FCA21-1C09-4750-A2E3-144D972B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988B2-C78C-436F-B870-F3C45C8A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PRIMARY PREVENTION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3FC7B-5E15-48E9-9979-E42723CD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Aspirin 初級預防：不再是常規處方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B9DEF-1A09-498B-8B26-CE3C5006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0117F-37A0-4460-87E7-E2EAEF7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可考慮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7DBDC-428D-420A-9832-1923A98E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40-70 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B7511-F01C-48C8-88AB-BA4A9974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心血管風險較高，且沒有出血風險增加者，可考慮低劑量 aspirin。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661DA-F78E-4A48-A0AD-328CAD7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F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DB25B-2034-4CA9-9D66-480012D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避免常規使用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5DF10-8D16-47C3-8C0D-B6F6A3F2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&gt;70 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11B50-7D1C-4ABA-AAB1-8C3997D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文件指出高齡族群常規預防使用 aspirin 應避免。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87BE3-0FBE-4DD6-BB49-273B9B22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0CB15-49A6-4B8A-AC5B-E1B6A800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關鍵限制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B149B-11B6-4085-A05E-AA9E6FAB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HBR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485F1-751F-476E-A45E-B77AD59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若為高出血風險，即使 ASCVD 或 CAC 風險較高，淨效益可能轉為傷害。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784BF-BC78-47CA-9F67-07B1A96C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來源：Table 1、Primary prevention section, pp. 2, 10-11</a:t>
            </a:r>
          </a:p>
        </p:txBody>
      </p:sp>
    </p:spTree>
    <p:extLst>
      <p:ext uri="{BB962C8B-B14F-4D97-AF65-F5344CB8AC3E}">
        <p14:creationId xmlns:p14="http://schemas.microsoft.com/office/powerpoint/2010/main" val="1076034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A6AE8-22DB-4BE3-B075-CF4DD724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6E36-A10E-497B-8658-E77E311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06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B74B2-7E43-4F3A-82B0-D8ED019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79F78-2B6E-48D8-9FEF-9FFB9D8E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POST PCI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35A9-8502-4533-AD01-2D5AAF5F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PCI 後預設 DAPT 期間：CCD 6 個月，ACS 12 個月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52F71-7490-4E1F-B0E4-C2B05A0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926BA-75F7-4D4A-8FAD-EBB9E46F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CCD + PCI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AAF6F-42A4-4E52-999D-0107A779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93D"/>
                </a:solidFill>
              </a:defRPr>
            </a:pPr>
            <a:r>
              <a:rPr sz="1650" b="1">
                <a:solidFill>
                  <a:srgbClr val="1D293D"/>
                </a:solidFill>
              </a:rPr>
              <a:t>Aspirin + clopidogrel 6 個月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E42E-D034-41EE-A44E-D0575A4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之後轉單一抗血小板治療。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7E9C2-0C27-4AB6-806E-FDC96A1B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94D4F-C191-42EB-8ED0-981451F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ACS + PCI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41FAB-68F8-4D6C-BE82-6E38992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93D"/>
                </a:solidFill>
              </a:defRPr>
            </a:pPr>
            <a:r>
              <a:rPr sz="1650" b="1">
                <a:solidFill>
                  <a:srgbClr val="1D293D"/>
                </a:solidFill>
              </a:rPr>
              <a:t>Aspirin + P2Y12 抑制劑 12 個月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FCAC8-AC20-40E0-AD6E-AC3BEAAF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prasugrel 或 ticagrelor 為優先選項；高齡或出血疑慮時 clopidogrel 可較適合。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1A63A-BCEE-4B38-BC56-E85CD33D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8473B-C1CB-4437-A386-B2A78E20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CABG 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8C121-22E4-4DC1-BAF4-2497BFE9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93D"/>
                </a:solidFill>
              </a:defRPr>
            </a:pPr>
            <a:r>
              <a:rPr sz="1650" b="1">
                <a:solidFill>
                  <a:srgbClr val="1D293D"/>
                </a:solidFill>
              </a:rPr>
              <a:t>DAPT 可能降低 vein graft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7E09A-86C2-4DB0-A768-2736C49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但臨床事件效益有限，且增加出血。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8AEC2-3AB4-4814-8E0A-7B2DA5E0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來源：Table 1、Table 2、Postrevascularization section, pp. 2, 5-14</a:t>
            </a:r>
          </a:p>
        </p:txBody>
      </p:sp>
    </p:spTree>
    <p:extLst>
      <p:ext uri="{BB962C8B-B14F-4D97-AF65-F5344CB8AC3E}">
        <p14:creationId xmlns:p14="http://schemas.microsoft.com/office/powerpoint/2010/main" val="1541442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B5216-2B8D-420B-AED5-78D49F4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7B72E-1111-4E01-B5D6-703DC7C0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F6422-5C0A-49CD-965D-862645E4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614CA-4B61-4BB7-8C62-3E2901E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BLEEDING REDUCTION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EAA9D-E85E-4B78-B6F0-954B95B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縮短 DAPT 或降階，是為了降低出血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DF1AD-790A-4CE6-9B46-CACD7BF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DE98-C583-4905-9399-0D18E75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短 DAPT 1-3 個月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AA7CD-7793-4AF6-B5D6-9FD7AA7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接續 P2Y12 inhibitor monotherapy 可降低出血，且在多數研究未增加缺血事件。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11CDC-935B-45F1-8231-6EC4672A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7BC41-0304-4AFE-9A37-9A7A3FD4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ACS 後 1 個月降階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26253-023D-4D0C-BCFE-5642CB70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從 ticagrelor 或 prasugrel 轉為 clopidogrel，可在選定病人降低出血風險。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165EB-D380-4A29-B92E-B30AB9CA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來源：Consensus recommendations postrevascularization, pp. 12-14</a:t>
            </a:r>
          </a:p>
        </p:txBody>
      </p:sp>
    </p:spTree>
    <p:extLst>
      <p:ext uri="{BB962C8B-B14F-4D97-AF65-F5344CB8AC3E}">
        <p14:creationId xmlns:p14="http://schemas.microsoft.com/office/powerpoint/2010/main" val="197218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DDD7B-64B9-4F7F-956D-97BBB50B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904A-340B-416C-B208-D46C57C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23ECC-4924-4308-AA0F-D29507A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B8A18-4960-4D1E-987D-1975CC5C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BEYOND 1 YEAR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0287D-B76A-420A-B240-A621E6D4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ACS 或 MI 一年後：單一治療不一定只能選 aspirin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1B0CC-F10F-43DE-94CD-0E31D36A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D1809-46B3-4C13-A53F-49D351B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0D0B9-46BE-4E8D-ACC2-0AAFA28B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Clopidogrel monotherapy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7A748-D8FF-46D4-AF82-58DCCDC8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新資料顯示，相較 aspirin，可能有較佳缺血保護且出血相近或較低。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EA428-2F32-43B8-A4AA-C7AA2DCE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EB3B5-78C0-4BA5-AA6B-F8D4A681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D4659-0C69-4965-B6A2-7890101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延長 DAPT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93507-3FDA-4BAA-BBE8-87EFC47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只適合高缺血、可接受出血風險的選定病人；效益需與出血交換。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0A6E5-DC3B-41FA-9585-A9915F6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9FBAE-90EB-45B7-968D-956B2C8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773BB-5E59-4A42-9DB8-7B41ABF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Rivaroxaban 2.5 mg bid + ASA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82C3E-653B-4367-987F-358F043A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可考慮於穩定 CAD 或 PAD 且無既往重大出血或腦血管事件的高風險病人。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52122-50DB-4C67-A8EA-0BFC7E3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來源：Long-term antithrombotic therapy section, pp. 14-16</a:t>
            </a:r>
          </a:p>
        </p:txBody>
      </p:sp>
    </p:spTree>
    <p:extLst>
      <p:ext uri="{BB962C8B-B14F-4D97-AF65-F5344CB8AC3E}">
        <p14:creationId xmlns:p14="http://schemas.microsoft.com/office/powerpoint/2010/main" val="684054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A5126-0C71-4160-A5EE-D27FDF50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EE36-ED16-429D-827B-F582FD1C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09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71621-11BF-4EA9-9FEC-E20AD0F9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FC997-5F39-4C47-9A23-8E402340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PERIPHERAL ARTERY DISEASE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47D0E-5578-4683-B1B6-2239B864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PAD：短期介入後強化，長期回到風險分層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4B251-98AF-4A7C-A74D-2DEA4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FB7B2-E285-4028-9909-503AD1CC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近期血管內介入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1743-B0E5-4CEA-90A7-CF09093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DAPT 1-6 個月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38E7E-9A21-4DC1-AB9E-E7ECBB71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5DCCB-3E55-434A-8ED3-E18644C9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手術 bypass 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9E3D9-F26C-43CB-AA38-B9ADA36A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較短 DAPT 或單一治療常較合理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572F4-55BC-4B61-8D1F-89DE8F1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63A28-E207-4A9C-8C19-0141016D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症狀性 PAD 長期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DC444-0F4B-4455-AE74-7EE13188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Aspirin 或 clopidogrel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40723-29E2-41CB-8F1A-A917CD5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C6397-B5D6-48C3-88CD-41ECC65E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高風險且可接受出血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DA2B4-B969-4656-B4B8-FE04BE82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ASA + rivaroxaban 2.5 mg bid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4238A-CF74-4911-84AF-B4291AF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來源：PAD section, pp. 16-18</a:t>
            </a:r>
          </a:p>
        </p:txBody>
      </p:sp>
    </p:spTree>
    <p:extLst>
      <p:ext uri="{BB962C8B-B14F-4D97-AF65-F5344CB8AC3E}">
        <p14:creationId xmlns:p14="http://schemas.microsoft.com/office/powerpoint/2010/main" val="1780084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3EB84-A067-4310-8CD3-2FCA540F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E3F1A-2055-477F-87A6-676513B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B9C33-EF4F-4F7F-AE29-1B123B3F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3911B-8ED8-40B0-B802-15C430A6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STROKE AND TIA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350D8-6607-463E-8B55-55F56618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輕微缺血性中風或高風險 TIA：DAPT 是短程策略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103D1-5FD3-4B3E-B84E-ED23422F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E7AA8-EA78-4606-8DFB-A1801CB2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93D"/>
                </a:solidFill>
              </a:defRPr>
            </a:pPr>
            <a:r>
              <a:rPr sz="1575" b="1">
                <a:solidFill>
                  <a:srgbClr val="1D293D"/>
                </a:solidFill>
              </a:rPr>
              <a:t>NIHSS &lt;=3 或 ABCD2 &gt;=4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C52F9-4697-4CBD-B414-860B18C4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71041-9190-4DB2-A1CB-FC54C95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93D"/>
                </a:solidFill>
              </a:defRPr>
            </a:pPr>
            <a:r>
              <a:rPr sz="1575" b="1">
                <a:solidFill>
                  <a:srgbClr val="1D293D"/>
                </a:solidFill>
              </a:rPr>
              <a:t>12-24 小時內開始 DAPT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9EF99-AC96-4A76-9961-CB97F1FD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B928C-C61D-4086-B085-6361C499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93D"/>
                </a:solidFill>
              </a:defRPr>
            </a:pPr>
            <a:r>
              <a:rPr sz="1575" b="1">
                <a:solidFill>
                  <a:srgbClr val="1D293D"/>
                </a:solidFill>
              </a:rPr>
              <a:t>持續 21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BE050-19CB-42CD-8E25-094CD0D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333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5FF8B-A6E0-4585-A5D7-E30D5F0D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93D"/>
                </a:solidFill>
              </a:defRPr>
            </a:pPr>
            <a:r>
              <a:rPr sz="1575" b="1">
                <a:solidFill>
                  <a:srgbClr val="1D293D"/>
                </a:solidFill>
              </a:rPr>
              <a:t>轉為單一抗血小板治療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D49FE-5C27-4E82-BA3D-E3CD121B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48E"/>
                </a:solidFill>
              </a:defRPr>
            </a:pPr>
            <a:r>
              <a:rPr sz="1650" b="0">
                <a:solidFill>
                  <a:srgbClr val="62748E"/>
                </a:solidFill>
              </a:rPr>
              <a:t>若接受血栓溶解治療或較嚴重中風，DAPT 的角色較不明確；長期 DAPT 不建議。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B011F-D9FD-4B57-8F69-2DFCF42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來源：Stroke/TIA section, pp. 16-18</a:t>
            </a:r>
          </a:p>
        </p:txBody>
      </p:sp>
    </p:spTree>
    <p:extLst>
      <p:ext uri="{BB962C8B-B14F-4D97-AF65-F5344CB8AC3E}">
        <p14:creationId xmlns:p14="http://schemas.microsoft.com/office/powerpoint/2010/main" val="787646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E0323-8FD6-43E0-9A4B-5D4DDD9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DD5B3-3857-4996-84F6-C9340E4F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95E0C-544D-4F55-A7B7-E21B700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FC30F-C5D8-4F55-A69F-875FB82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OAC OVERLAP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8F26C-6DEC-4DCD-9F8A-B982E027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需要抗凝時，原則是「少即是多」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C52DB-1B06-432F-983B-C02BEA54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FC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0601B-82D0-48A5-A6B3-3093013A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Triple therapy 避免長期使用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BED92-00C3-44CC-8B29-C7A1973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OAC + aspirin + P2Y12 抑制劑出血風險高，通常應縮到最短期間。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D6AC6-B507-47C1-9484-EA65689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118C1-149E-47C7-9F2A-E3CD6B6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常見轉換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37BE3-08F7-4ACC-84DF-4765912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PCI 後若需抗凝，aspirin 通常可在 1 個月內停用；clopidogrel + DOAC 為常見組合。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64121-AF73-4AD4-A76B-16F03166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來源：AF/VTE with antiplatelet needs section, pp. 17-18</a:t>
            </a:r>
          </a:p>
        </p:txBody>
      </p:sp>
    </p:spTree>
    <p:extLst>
      <p:ext uri="{BB962C8B-B14F-4D97-AF65-F5344CB8AC3E}">
        <p14:creationId xmlns:p14="http://schemas.microsoft.com/office/powerpoint/2010/main" val="842132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8179E-710E-4C71-B5D5-06A438C1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8F21C-4D61-41ED-BE86-9D8419C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77C35-5349-43FB-B3DD-AE01784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10CB8-D239-4712-B1AD-EF105E59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PERIOPERATIVE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F5327-2216-4D32-8A75-B7E0D84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非心臟手術前：先看 PCI 時間軸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80361-FB22-483C-B4FB-1E0637E8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89213-B3C0-425B-9C4A-C498DCF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Elective surgery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84C26-BF82-44C9-9812-53A03E9C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8001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AAF8A-190B-418E-90C4-C5693E0D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CCS PCI 後建議延後 &gt;=6 個月；ACS PCI 後建議延後 12 個月。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79DB9-EE93-4F81-8D53-46E42D9A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8B440-9047-4953-8198-28EB51D7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停 P2Y12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33338-500F-4C89-A272-07D27923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8001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1D9A8-462A-4724-8EBC-E76C4B5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Clopidogrel / ticagrelor 術前 5 天；prasugrel 術前 7 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71EC5-8170-4401-B599-2E037769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1E559-A928-4B34-A0B3-0F8ADA7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急迫手術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96DCE-1AA5-41A6-864E-99B4C3E9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8001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C69A1-4BFE-4FF9-8932-8CA3515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可能需停 P2Y12、短效 IV 抗血小板橋接，或緊急情境考慮血小板輸注。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B4420-AF5A-419C-AFAB-DA38956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來源：Table 5、Perioperative management section, pp. 18-19</a:t>
            </a:r>
          </a:p>
        </p:txBody>
      </p:sp>
    </p:spTree>
    <p:extLst>
      <p:ext uri="{BB962C8B-B14F-4D97-AF65-F5344CB8AC3E}">
        <p14:creationId xmlns:p14="http://schemas.microsoft.com/office/powerpoint/2010/main" val="1532486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111D06-0418-4387-8C60-6E8A3E6D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FD079-C6AC-4901-A3C1-8071101B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0A89F-932F-4D74-9385-D8A4C98C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CC738-EB16-4950-B08A-5EB257A4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FOLLOW-UP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1A027-C827-45E9-8B80-D832D4D5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治療開出去以後，真正的風險管理才開始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47092-F15A-4212-AFC2-58E3B84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093B-39FE-453D-B725-58148E70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00F68-56A7-4D0C-9133-5ECCD29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Platelet testing / genotyping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58E2F-65B8-45A4-A445-7590825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不建議常規使用，但可在 P2Y12 降階或特殊情境輔助決策。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A68C6-FE93-4212-A1CE-EF0905C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AE11C-DF6B-4A7F-B9F6-0D1FA83A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8E661-805B-45C1-BF9A-2C17966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PPI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FADA4-4872-45B1-A0A9-A518829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高出血風險或併用抗凝者建議使用 PPI；omeprazole 與 clopidogrel 的臨床影響未被證實。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C6AEC-DC79-4773-9687-53D92F20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381250"/>
            <a:ext cx="345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7A532-C04D-479D-AFBB-AD00715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90800"/>
            <a:ext cx="299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CC6AC-9AC1-49B1-88C9-5EF27C9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33700"/>
            <a:ext cx="299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Adherence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97B90-EC13-4CA1-AFC9-B3E72EBA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476625"/>
            <a:ext cx="2997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MI 或 PCI 後早期不規則服藥，與支架栓塞和 MACE 風險上升相關。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30E36-AC38-4F35-8243-6FF9FA99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來源：Monitoring and adherence sections, pp. 19-21</a:t>
            </a:r>
          </a:p>
        </p:txBody>
      </p:sp>
    </p:spTree>
    <p:extLst>
      <p:ext uri="{BB962C8B-B14F-4D97-AF65-F5344CB8AC3E}">
        <p14:creationId xmlns:p14="http://schemas.microsoft.com/office/powerpoint/2010/main" val="1711076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A2A11-5095-4E60-8C1A-700FED05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4BB55-68A2-4E39-9764-69E64C41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48E"/>
                </a:solidFill>
              </a:defRPr>
            </a:pPr>
            <a:r>
              <a:rPr sz="1275" b="1">
                <a:solidFill>
                  <a:srgbClr val="62748E"/>
                </a:solidFill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62F14-F6EC-4F49-AEB1-553A18C6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阿婷醫師的讀書筆記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B9744-8A34-490B-B863-F97E8B7A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6F"/>
                </a:solidFill>
              </a:defRPr>
            </a:pPr>
            <a:r>
              <a:rPr sz="975" b="1">
                <a:solidFill>
                  <a:srgbClr val="00786F"/>
                </a:solidFill>
              </a:rPr>
              <a:t>CLINICAL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B73A1-8484-4BBF-AE73-2FD2513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五句話收束這篇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7EBE7-E176-4A15-B365-C0E0B449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5621B-DD85-45A9-BF19-AB765BFF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Aspirin 初級預防只留給高缺血、低出血風險的選定族群。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9CCB9-2DFD-42F6-8595-B319174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BE8E8-485C-4017-82D6-C417E1B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PCI 後 DAPT 預設期間仍是 CCD 6 個月、ACS 12 個月，但可依風險縮短。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F76EB-55E1-4A36-BEC7-F3BED29A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E42F-82E0-4048-BC8B-8393D2CC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高出血風險時，可考慮短 DAPT 後 P2Y12 單用或適當降階。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16148-9411-44DA-9E10-AF45483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9C5A8-3C0A-4272-93CA-D5FDB618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一年後次級預防，clopidogrel 單用與低劑量 rivaroxaban + aspirin 是值得注意的策略。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5CC62-E0E7-4A4A-96C2-69E152D0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C8201-10CF-4CE5-8893-05584560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抗血小板治療不是一次決定，而是需要追蹤、教育、處理副作用與定期重評估。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7B362-31CF-44D0-A087-44E1BF1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教育用途整理；臨床決策請回到原文與當地指引，並依病人狀況判斷。</a:t>
            </a:r>
          </a:p>
        </p:txBody>
      </p:sp>
    </p:spTree>
    <p:extLst>
      <p:ext uri="{BB962C8B-B14F-4D97-AF65-F5344CB8AC3E}">
        <p14:creationId xmlns:p14="http://schemas.microsoft.com/office/powerpoint/2010/main" val="1248433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2026-07-02T22:12:20.2650000Z</dcterms:created>
  <dcterms:modified xsi:type="dcterms:W3CDTF">2026-07-02T22:12:20.2650000Z</dcterms:modified>
</coreProperties>
</file>